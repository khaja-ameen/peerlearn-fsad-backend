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31"/>
  </p:notesMasterIdLst>
  <p:sldIdLst>
    <p:sldId id="363" r:id="rId2"/>
    <p:sldId id="318" r:id="rId3"/>
    <p:sldId id="364" r:id="rId4"/>
    <p:sldId id="258" r:id="rId5"/>
    <p:sldId id="261" r:id="rId6"/>
    <p:sldId id="334" r:id="rId7"/>
    <p:sldId id="335" r:id="rId8"/>
    <p:sldId id="359" r:id="rId9"/>
    <p:sldId id="360" r:id="rId10"/>
    <p:sldId id="361" r:id="rId11"/>
    <p:sldId id="362" r:id="rId12"/>
    <p:sldId id="345" r:id="rId13"/>
    <p:sldId id="346" r:id="rId14"/>
    <p:sldId id="337" r:id="rId15"/>
    <p:sldId id="338" r:id="rId16"/>
    <p:sldId id="347" r:id="rId17"/>
    <p:sldId id="348" r:id="rId18"/>
    <p:sldId id="349" r:id="rId19"/>
    <p:sldId id="350" r:id="rId20"/>
    <p:sldId id="351" r:id="rId21"/>
    <p:sldId id="352" r:id="rId22"/>
    <p:sldId id="353" r:id="rId23"/>
    <p:sldId id="358" r:id="rId24"/>
    <p:sldId id="357" r:id="rId25"/>
    <p:sldId id="323" r:id="rId26"/>
    <p:sldId id="324" r:id="rId27"/>
    <p:sldId id="325" r:id="rId28"/>
    <p:sldId id="326" r:id="rId29"/>
    <p:sldId id="365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1" clrIdx="0">
    <p:extLst>
      <p:ext uri="{19B8F6BF-5375-455C-9EA6-DF929625EA0E}">
        <p15:presenceInfo xmlns="" xmlns:p15="http://schemas.microsoft.com/office/powerpoint/2012/main" userId="admi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1921" autoAdjust="0"/>
  </p:normalViewPr>
  <p:slideViewPr>
    <p:cSldViewPr snapToGrid="0">
      <p:cViewPr>
        <p:scale>
          <a:sx n="87" d="100"/>
          <a:sy n="87" d="100"/>
        </p:scale>
        <p:origin x="-499" y="-3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E09997-1C04-4E7C-8307-C0D142CF000E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4B841A-3332-4ED5-ADE8-10887B27D0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3612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803449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4B841A-3332-4ED5-ADE8-10887B27D038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1521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4B841A-3332-4ED5-ADE8-10887B27D038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8391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4B841A-3332-4ED5-ADE8-10887B27D038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350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9898E-6382-4585-836E-8E9182938E31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71A4A89B-91B5-406C-B5B2-3706C9EFE7A7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Text Box 17"/>
          <p:cNvSpPr txBox="1">
            <a:spLocks noChangeArrowheads="1"/>
          </p:cNvSpPr>
          <p:nvPr/>
        </p:nvSpPr>
        <p:spPr bwMode="auto">
          <a:xfrm>
            <a:off x="0" y="6553200"/>
            <a:ext cx="29464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cGrawHill-Italic" pitchFamily="2" charset="0"/>
                <a:ea typeface="+mn-ea"/>
                <a:cs typeface="+mn-cs"/>
              </a:rPr>
              <a:t>McGraw-Hill</a:t>
            </a:r>
            <a:endParaRPr kumimoji="0" lang="en-US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8" name="Text Box 18"/>
          <p:cNvSpPr txBox="1">
            <a:spLocks noChangeArrowheads="1"/>
          </p:cNvSpPr>
          <p:nvPr/>
        </p:nvSpPr>
        <p:spPr bwMode="auto">
          <a:xfrm>
            <a:off x="6096000" y="6553200"/>
            <a:ext cx="6096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Char char="©"/>
              <a:tabLst/>
              <a:defRPr/>
            </a:pPr>
            <a:r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cGrawHill-Italic" pitchFamily="2" charset="0"/>
                <a:ea typeface="+mn-ea"/>
                <a:cs typeface="+mn-cs"/>
              </a:rPr>
              <a:t>The McGraw-Hill Companies, Inc., 2000</a:t>
            </a:r>
            <a:endParaRPr kumimoji="0" lang="en-US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11997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9898E-6382-4585-836E-8E9182938E31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4A89B-91B5-406C-B5B2-3706C9EFE7A7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0961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9898E-6382-4585-836E-8E9182938E31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4A89B-91B5-406C-B5B2-3706C9EFE7A7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8563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9898E-6382-4585-836E-8E9182938E31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4A89B-91B5-406C-B5B2-3706C9EFE7A7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59891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9898E-6382-4585-836E-8E9182938E31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4A89B-91B5-406C-B5B2-3706C9EFE7A7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46906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9898E-6382-4585-836E-8E9182938E31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4A89B-91B5-406C-B5B2-3706C9EFE7A7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8141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9898E-6382-4585-836E-8E9182938E31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4A89B-91B5-406C-B5B2-3706C9EFE7A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676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9898E-6382-4585-836E-8E9182938E31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4A89B-91B5-406C-B5B2-3706C9EFE7A7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6090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E119898E-6382-4585-836E-8E9182938E31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4A89B-91B5-406C-B5B2-3706C9EFE7A7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97319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9898E-6382-4585-836E-8E9182938E31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4A89B-91B5-406C-B5B2-3706C9EFE7A7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63804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9898E-6382-4585-836E-8E9182938E31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4A89B-91B5-406C-B5B2-3706C9EFE7A7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17408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0" y="0"/>
            <a:ext cx="5467350" cy="598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smtClean="0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24049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9" y="379083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19898E-6382-4585-836E-8E9182938E31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90490" y="6291139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ctr">
              <a:defRPr sz="2200">
                <a:solidFill>
                  <a:schemeClr val="accent1"/>
                </a:solidFill>
              </a:defRPr>
            </a:lvl1pPr>
          </a:lstStyle>
          <a:p>
            <a:fld id="{71A4A89B-91B5-406C-B5B2-3706C9EFE7A7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Icon&#10;&#10;Description automatically generated with medium confidence">
            <a:extLst>
              <a:ext uri="{FF2B5EF4-FFF2-40B4-BE49-F238E27FC236}">
                <a16:creationId xmlns:a16="http://schemas.microsoft.com/office/drawing/2014/main" xmlns="" id="{D33DD7EC-6054-A5D7-0F93-3916702EC90E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44" y="32699"/>
            <a:ext cx="1218935" cy="50098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DB6D7A70-9470-38A5-6785-933F5C089234}"/>
              </a:ext>
            </a:extLst>
          </p:cNvPr>
          <p:cNvPicPr>
            <a:picLocks noChangeAspect="1"/>
          </p:cNvPicPr>
          <p:nvPr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0" t="18054" b="50110"/>
          <a:stretch/>
        </p:blipFill>
        <p:spPr>
          <a:xfrm>
            <a:off x="1451579" y="6373097"/>
            <a:ext cx="2912198" cy="351077"/>
          </a:xfrm>
          <a:prstGeom prst="rect">
            <a:avLst/>
          </a:prstGeom>
        </p:spPr>
      </p:pic>
      <p:pic>
        <p:nvPicPr>
          <p:cNvPr id="14" name="Picture 13" descr="Text&#10;&#10;Description automatically generated with medium confidence">
            <a:extLst>
              <a:ext uri="{FF2B5EF4-FFF2-40B4-BE49-F238E27FC236}">
                <a16:creationId xmlns:a16="http://schemas.microsoft.com/office/drawing/2014/main" xmlns="" id="{A51BE3ED-273E-B0A1-FC3A-EE01E1A92D27}"/>
              </a:ext>
            </a:extLst>
          </p:cNvPr>
          <p:cNvPicPr>
            <a:picLocks noChangeAspect="1"/>
          </p:cNvPicPr>
          <p:nvPr/>
        </p:nvPicPr>
        <p:blipFill rotWithShape="1"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957" r="20929" b="13232"/>
          <a:stretch/>
        </p:blipFill>
        <p:spPr>
          <a:xfrm>
            <a:off x="8825503" y="6373097"/>
            <a:ext cx="2229351" cy="335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795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hyperlink" Target="http://nptel.ac.in/courses/106105081/28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16"/>
          <p:cNvSpPr txBox="1"/>
          <p:nvPr/>
        </p:nvSpPr>
        <p:spPr>
          <a:xfrm>
            <a:off x="1501591" y="1169433"/>
            <a:ext cx="10235141" cy="1384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cap="all" dirty="0" smtClean="0">
                <a:ln/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Poppins" panose="00000500000000000000" pitchFamily="2" charset="0"/>
              </a:rPr>
              <a:t>Course name – COMPUTER NETWORKS</a:t>
            </a:r>
          </a:p>
          <a:p>
            <a:pPr marR="0" lv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cap="all" dirty="0" smtClean="0">
                <a:ln/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Poppins" panose="00000500000000000000" pitchFamily="2" charset="0"/>
              </a:rPr>
              <a:t>Course Code – </a:t>
            </a:r>
            <a:r>
              <a:rPr lang="en-IN" sz="2800" b="1" cap="all" dirty="0" smtClean="0">
                <a:ln/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Poppins" panose="00000500000000000000" pitchFamily="2" charset="0"/>
                <a:sym typeface="BioRhyme ExtraBold"/>
              </a:rPr>
              <a:t>24CS2202</a:t>
            </a:r>
            <a:endParaRPr lang="en-US" sz="2800" b="1" cap="all" dirty="0">
              <a:ln/>
              <a:solidFill>
                <a:srgbClr val="C00000"/>
              </a:solidFill>
              <a:latin typeface="Cambria" panose="02040503050406030204" pitchFamily="18" charset="0"/>
              <a:ea typeface="Cambria" panose="02040503050406030204" pitchFamily="18" charset="0"/>
              <a:cs typeface="Poppins" panose="00000500000000000000" pitchFamily="2" charset="0"/>
              <a:sym typeface="BioRhyme ExtraBold"/>
            </a:endParaRPr>
          </a:p>
        </p:txBody>
      </p:sp>
      <p:sp>
        <p:nvSpPr>
          <p:cNvPr id="8" name="Google Shape;502;p17">
            <a:extLst>
              <a:ext uri="{FF2B5EF4-FFF2-40B4-BE49-F238E27FC236}">
                <a16:creationId xmlns:a16="http://schemas.microsoft.com/office/drawing/2014/main" xmlns="" id="{7153E61F-4441-DBE3-3DFF-6E9EF6C48D23}"/>
              </a:ext>
            </a:extLst>
          </p:cNvPr>
          <p:cNvSpPr/>
          <p:nvPr/>
        </p:nvSpPr>
        <p:spPr>
          <a:xfrm>
            <a:off x="5501605" y="4475437"/>
            <a:ext cx="2235116" cy="453054"/>
          </a:xfrm>
          <a:prstGeom prst="roundRect">
            <a:avLst>
              <a:gd name="adj" fmla="val 35613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smtClean="0">
                <a:solidFill>
                  <a:schemeClr val="lt1"/>
                </a:solidFill>
                <a:ea typeface="Calibri"/>
                <a:cs typeface="Poppins" panose="00000500000000000000" pitchFamily="2" charset="0"/>
                <a:sym typeface="Calibri"/>
              </a:rPr>
              <a:t>Session</a:t>
            </a:r>
            <a:endParaRPr sz="2400" dirty="0">
              <a:solidFill>
                <a:schemeClr val="lt1"/>
              </a:solidFill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xmlns="" id="{A2BDCC77-0491-FC57-401C-380586D8ED1D}"/>
              </a:ext>
            </a:extLst>
          </p:cNvPr>
          <p:cNvSpPr/>
          <p:nvPr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4354487" y="2943224"/>
            <a:ext cx="4560914" cy="10541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2400" b="1" dirty="0">
                <a:ea typeface="BioRhyme ExtraBold"/>
                <a:cs typeface="Poppins" panose="00000500000000000000" pitchFamily="2" charset="0"/>
                <a:sym typeface="BioRhyme ExtraBold"/>
              </a:rPr>
              <a:t>Topic: </a:t>
            </a:r>
          </a:p>
          <a:p>
            <a:pPr lvl="0" algn="ctr"/>
            <a:endParaRPr lang="en-US" sz="1050" b="1" dirty="0">
              <a:solidFill>
                <a:srgbClr val="FFFFFF">
                  <a:lumMod val="50000"/>
                </a:srgbClr>
              </a:solidFill>
              <a:ea typeface="BioRhyme ExtraBold"/>
              <a:cs typeface="Poppins" panose="00000500000000000000" pitchFamily="2" charset="0"/>
              <a:sym typeface="BioRhyme ExtraBold"/>
            </a:endParaRPr>
          </a:p>
          <a:p>
            <a:pPr lvl="0" algn="ctr"/>
            <a:r>
              <a:rPr lang="en-US" sz="2800" dirty="0" smtClean="0">
                <a:solidFill>
                  <a:srgbClr val="C00000"/>
                </a:solidFill>
                <a:latin typeface="Stencil" panose="040409050D0802020404" pitchFamily="82" charset="0"/>
              </a:rPr>
              <a:t>SMTP</a:t>
            </a:r>
            <a:endParaRPr lang="en-US" sz="2800" dirty="0">
              <a:solidFill>
                <a:srgbClr val="C00000"/>
              </a:solidFill>
              <a:latin typeface="Stencil" panose="040409050D0802020404" pitchFamily="82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129050" y="2550077"/>
            <a:ext cx="8980227" cy="45719"/>
          </a:xfrm>
          <a:prstGeom prst="rect">
            <a:avLst/>
          </a:prstGeom>
          <a:solidFill>
            <a:srgbClr val="A71E25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Google Shape;475;p16">
            <a:extLst>
              <a:ext uri="{FF2B5EF4-FFF2-40B4-BE49-F238E27FC236}">
                <a16:creationId xmlns:a16="http://schemas.microsoft.com/office/drawing/2014/main" xmlns="" id="{0D82E80F-BDB7-0749-6E91-9E1F5FBC3FE7}"/>
              </a:ext>
            </a:extLst>
          </p:cNvPr>
          <p:cNvSpPr txBox="1"/>
          <p:nvPr/>
        </p:nvSpPr>
        <p:spPr>
          <a:xfrm>
            <a:off x="4059135" y="402649"/>
            <a:ext cx="5448301" cy="584735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3200" b="1" u="sng" cap="all" dirty="0">
                <a:ln/>
                <a:solidFill>
                  <a:srgbClr val="C00000"/>
                </a:solidFill>
                <a:cs typeface="Poppins" panose="00000500000000000000" pitchFamily="2" charset="0"/>
              </a:rPr>
              <a:t>DEPARTMENT OF CSE</a:t>
            </a:r>
          </a:p>
        </p:txBody>
      </p:sp>
    </p:spTree>
    <p:extLst>
      <p:ext uri="{BB962C8B-B14F-4D97-AF65-F5344CB8AC3E}">
        <p14:creationId xmlns:p14="http://schemas.microsoft.com/office/powerpoint/2010/main" val="1546239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="" xmlns:a16="http://schemas.microsoft.com/office/drawing/2014/main" id="{D530E72E-233E-E443-1A84-D3CD02ECB889}"/>
              </a:ext>
            </a:extLst>
          </p:cNvPr>
          <p:cNvSpPr/>
          <p:nvPr/>
        </p:nvSpPr>
        <p:spPr>
          <a:xfrm>
            <a:off x="4471372" y="84408"/>
            <a:ext cx="3612430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AIM OF THE SESSION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D7C61438-200D-827A-D4DD-5B5127AFA187}"/>
              </a:ext>
            </a:extLst>
          </p:cNvPr>
          <p:cNvSpPr txBox="1"/>
          <p:nvPr/>
        </p:nvSpPr>
        <p:spPr>
          <a:xfrm>
            <a:off x="2141355" y="600076"/>
            <a:ext cx="8272463" cy="55399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cap="rnd">
            <a:solidFill>
              <a:schemeClr val="accent1">
                <a:lumMod val="20000"/>
                <a:lumOff val="80000"/>
              </a:schemeClr>
            </a:solidFill>
            <a:round/>
          </a:ln>
          <a:effectLst>
            <a:outerShdw blurRad="50800" dist="38100" algn="l" rotWithShape="0">
              <a:schemeClr val="accent1">
                <a:lumMod val="40000"/>
                <a:lumOff val="60000"/>
                <a:alpha val="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familiarize students with the basic concept </a:t>
            </a:r>
            <a:r>
              <a:rPr lang="en-US" sz="20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Layer </a:t>
            </a:r>
            <a:r>
              <a:rPr lang="en-US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Protocols</a:t>
            </a:r>
            <a:endParaRPr lang="en-US" sz="200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ounded Rectangle 17">
            <a:extLst>
              <a:ext uri="{FF2B5EF4-FFF2-40B4-BE49-F238E27FC236}">
                <a16:creationId xmlns="" xmlns:a16="http://schemas.microsoft.com/office/drawing/2014/main" id="{7F3AABB0-F8BA-C900-B6BF-45F4B58E9490}"/>
              </a:ext>
            </a:extLst>
          </p:cNvPr>
          <p:cNvSpPr/>
          <p:nvPr/>
        </p:nvSpPr>
        <p:spPr>
          <a:xfrm>
            <a:off x="465493" y="1665839"/>
            <a:ext cx="5812093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INSTRUCTIONAL OBJECTIVES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2B5EAD4E-C007-9DE7-A40A-12802D3C9611}"/>
              </a:ext>
            </a:extLst>
          </p:cNvPr>
          <p:cNvSpPr txBox="1"/>
          <p:nvPr/>
        </p:nvSpPr>
        <p:spPr>
          <a:xfrm>
            <a:off x="811695" y="2361871"/>
            <a:ext cx="5119688" cy="1631216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</a:t>
            </a: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designed to:</a:t>
            </a:r>
          </a:p>
          <a:p>
            <a:pPr marL="342900" indent="-342900">
              <a:buFontTx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Application Layer. </a:t>
            </a:r>
          </a:p>
          <a:p>
            <a:pPr marL="342900" indent="-342900">
              <a:buFontTx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components of E-mail-SMTP,POP3.</a:t>
            </a:r>
          </a:p>
          <a:p>
            <a:pPr marL="342900" indent="-342900">
              <a:buFontTx/>
              <a:buAutoNum type="arabicPeriod"/>
            </a:pPr>
            <a:endParaRPr lang="en-US" sz="20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Rounded Rectangle 17">
            <a:extLst>
              <a:ext uri="{FF2B5EF4-FFF2-40B4-BE49-F238E27FC236}">
                <a16:creationId xmlns="" xmlns:a16="http://schemas.microsoft.com/office/drawing/2014/main" id="{6652A33D-9A9E-3EAC-0CAE-113901ECA179}"/>
              </a:ext>
            </a:extLst>
          </p:cNvPr>
          <p:cNvSpPr/>
          <p:nvPr/>
        </p:nvSpPr>
        <p:spPr>
          <a:xfrm>
            <a:off x="7027608" y="1665839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LEARNING OUTCOMES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="" xmlns:a16="http://schemas.microsoft.com/office/drawing/2014/main" id="{B0BB8E68-8B73-12DE-615E-1091F19A9A9A}"/>
              </a:ext>
            </a:extLst>
          </p:cNvPr>
          <p:cNvSpPr txBox="1"/>
          <p:nvPr/>
        </p:nvSpPr>
        <p:spPr>
          <a:xfrm>
            <a:off x="6467475" y="2247571"/>
            <a:ext cx="5338761" cy="1938992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At the end of this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</a:t>
            </a: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you should be able to:</a:t>
            </a:r>
          </a:p>
          <a:p>
            <a:pPr lvl="0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  Write a short note on E-Mail and SMTP.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 startAt="2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Describe POP3.</a:t>
            </a:r>
          </a:p>
          <a:p>
            <a:pPr marL="342900" indent="-342900">
              <a:buFontTx/>
              <a:buAutoNum type="arabicPeriod" startAt="2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 out various protocols in application layer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 startAt="2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8607984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9" grpId="0" animBg="1"/>
      <p:bldP spid="29" grpId="0" animBg="1"/>
      <p:bldP spid="3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54B4EB8B-F374-DF0E-47FD-1702A670AF3F}"/>
              </a:ext>
            </a:extLst>
          </p:cNvPr>
          <p:cNvSpPr txBox="1"/>
          <p:nvPr/>
        </p:nvSpPr>
        <p:spPr>
          <a:xfrm>
            <a:off x="5118445" y="698946"/>
            <a:ext cx="233269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I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</a:p>
        </p:txBody>
      </p:sp>
      <p:sp>
        <p:nvSpPr>
          <p:cNvPr id="8" name="Rectangle 7"/>
          <p:cNvSpPr/>
          <p:nvPr/>
        </p:nvSpPr>
        <p:spPr>
          <a:xfrm>
            <a:off x="1473954" y="1160611"/>
            <a:ext cx="9621671" cy="55182"/>
          </a:xfrm>
          <a:prstGeom prst="rect">
            <a:avLst/>
          </a:prstGeom>
          <a:solidFill>
            <a:srgbClr val="A71E25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 1"/>
          <p:cNvSpPr/>
          <p:nvPr/>
        </p:nvSpPr>
        <p:spPr>
          <a:xfrm>
            <a:off x="2227670" y="1430170"/>
            <a:ext cx="8114237" cy="38318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Discussion about </a:t>
            </a:r>
            <a:r>
              <a:rPr lang="en-US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Application Layer Protocols</a:t>
            </a: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E- mail Server</a:t>
            </a: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Electronic Mail: SMTP [RFC 2821]</a:t>
            </a: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Various </a:t>
            </a:r>
            <a:r>
              <a:rPr lang="en-US" altLang="en-US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scenario in electronic mail</a:t>
            </a:r>
            <a:endParaRPr lang="en-US" b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Purpose of </a:t>
            </a:r>
            <a:r>
              <a:rPr lang="en-US" b="1" dirty="0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Application </a:t>
            </a:r>
            <a:r>
              <a:rPr lang="en-US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Layer</a:t>
            </a: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Summary</a:t>
            </a: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Self-Assessment </a:t>
            </a:r>
            <a:r>
              <a:rPr lang="en-US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Q</a:t>
            </a:r>
            <a:r>
              <a:rPr lang="en-US" b="1" dirty="0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uestions</a:t>
            </a: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Terminal questions</a:t>
            </a: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  <a:endParaRPr lang="en-US" b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4704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BE0487B9-470E-AD8C-DF54-687F8103A722}"/>
              </a:ext>
            </a:extLst>
          </p:cNvPr>
          <p:cNvSpPr txBox="1"/>
          <p:nvPr/>
        </p:nvSpPr>
        <p:spPr>
          <a:xfrm>
            <a:off x="2143125" y="721132"/>
            <a:ext cx="79724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kern="0" dirty="0">
                <a:solidFill>
                  <a:srgbClr val="C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Application Layer Protocols</a:t>
            </a:r>
            <a:endParaRPr lang="en-US" sz="2800" u="sng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12E6E3CD-062E-AE15-11ED-EA287A365E76}"/>
              </a:ext>
            </a:extLst>
          </p:cNvPr>
          <p:cNvSpPr txBox="1"/>
          <p:nvPr/>
        </p:nvSpPr>
        <p:spPr>
          <a:xfrm>
            <a:off x="984454" y="1758727"/>
            <a:ext cx="9896168" cy="11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application layer is present at the top of the OSI model. It is the layer through which users interact. It provides services to the user.</a:t>
            </a:r>
            <a:endParaRPr lang="en-US" sz="3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A36A0702-8783-C0C2-5DD0-6FCABBBA0F96}"/>
              </a:ext>
            </a:extLst>
          </p:cNvPr>
          <p:cNvSpPr txBox="1"/>
          <p:nvPr/>
        </p:nvSpPr>
        <p:spPr>
          <a:xfrm>
            <a:off x="984454" y="3428999"/>
            <a:ext cx="595091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E-mail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SMTP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POP3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IMAP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6301688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5CA53FB5-1DAE-DB55-184D-DAC182105039}"/>
              </a:ext>
            </a:extLst>
          </p:cNvPr>
          <p:cNvSpPr txBox="1"/>
          <p:nvPr/>
        </p:nvSpPr>
        <p:spPr>
          <a:xfrm>
            <a:off x="2779088" y="95409"/>
            <a:ext cx="56171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Electronic mail</a:t>
            </a:r>
            <a:endParaRPr lang="en-US" sz="2800" b="1" u="sng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2F2CF2CD-3311-7A3B-E2F2-1CD72D099C69}"/>
              </a:ext>
            </a:extLst>
          </p:cNvPr>
          <p:cNvSpPr txBox="1"/>
          <p:nvPr/>
        </p:nvSpPr>
        <p:spPr>
          <a:xfrm>
            <a:off x="1022026" y="1952768"/>
            <a:ext cx="4359452" cy="4016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Wingdings" charset="0"/>
              <a:buNone/>
            </a:pPr>
            <a:r>
              <a:rPr 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Three major components</a:t>
            </a:r>
            <a:r>
              <a:rPr lang="en-US" sz="2000" i="1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000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agents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mail servers </a:t>
            </a:r>
          </a:p>
          <a:p>
            <a:pPr marL="342900" indent="-342900">
              <a:spcAft>
                <a:spcPct val="750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</a:t>
            </a:r>
            <a:r>
              <a:rPr lang="en-US" sz="2000" dirty="0">
                <a:cs typeface="Times New Roman" panose="02020603050405020304" pitchFamily="18" charset="0"/>
              </a:rPr>
              <a:t>mail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transfer protocol: SMTP</a:t>
            </a:r>
          </a:p>
          <a:p>
            <a:pPr>
              <a:buFont typeface="Wingdings" charset="0"/>
              <a:buNone/>
            </a:pPr>
            <a:r>
              <a:rPr 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Agent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a.k.a. </a:t>
            </a:r>
            <a:r>
              <a:rPr lang="ja-JP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altLang="ja-JP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mail reader</a:t>
            </a:r>
            <a:r>
              <a:rPr lang="ja-JP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lang="en-US" altLang="ja-JP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composing, editing, reading mail messages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e.g., Outlook, Thunderbird, iPhone mail client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outgoing, incoming messages stored on server</a:t>
            </a:r>
          </a:p>
        </p:txBody>
      </p:sp>
      <p:grpSp>
        <p:nvGrpSpPr>
          <p:cNvPr id="10" name="Group 454">
            <a:extLst>
              <a:ext uri="{FF2B5EF4-FFF2-40B4-BE49-F238E27FC236}">
                <a16:creationId xmlns="" xmlns:a16="http://schemas.microsoft.com/office/drawing/2014/main" id="{2EBCFCEC-1D88-5642-674D-1CA14DC07C15}"/>
              </a:ext>
            </a:extLst>
          </p:cNvPr>
          <p:cNvGrpSpPr>
            <a:grpSpLocks/>
          </p:cNvGrpSpPr>
          <p:nvPr/>
        </p:nvGrpSpPr>
        <p:grpSpPr bwMode="auto">
          <a:xfrm>
            <a:off x="6648152" y="1186529"/>
            <a:ext cx="4868955" cy="4782723"/>
            <a:chOff x="2937" y="886"/>
            <a:chExt cx="2720" cy="3224"/>
          </a:xfrm>
        </p:grpSpPr>
        <p:grpSp>
          <p:nvGrpSpPr>
            <p:cNvPr id="11" name="Group 389">
              <a:extLst>
                <a:ext uri="{FF2B5EF4-FFF2-40B4-BE49-F238E27FC236}">
                  <a16:creationId xmlns="" xmlns:a16="http://schemas.microsoft.com/office/drawing/2014/main" id="{46A30CB0-6961-0E36-9A26-C83BBFE0395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46" y="1756"/>
              <a:ext cx="301" cy="451"/>
              <a:chOff x="4140" y="429"/>
              <a:chExt cx="1425" cy="2396"/>
            </a:xfrm>
          </p:grpSpPr>
          <p:sp>
            <p:nvSpPr>
              <p:cNvPr id="174" name="Freeform 390">
                <a:extLst>
                  <a:ext uri="{FF2B5EF4-FFF2-40B4-BE49-F238E27FC236}">
                    <a16:creationId xmlns="" xmlns:a16="http://schemas.microsoft.com/office/drawing/2014/main" id="{90967292-79C4-7D23-B323-63776FBEC3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6 w 354"/>
                  <a:gd name="T1" fmla="*/ 0 h 2742"/>
                  <a:gd name="T2" fmla="*/ 30 w 354"/>
                  <a:gd name="T3" fmla="*/ 46 h 2742"/>
                  <a:gd name="T4" fmla="*/ 30 w 354"/>
                  <a:gd name="T5" fmla="*/ 354 h 2742"/>
                  <a:gd name="T6" fmla="*/ 0 w 354"/>
                  <a:gd name="T7" fmla="*/ 371 h 2742"/>
                  <a:gd name="T8" fmla="*/ 6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" name="Rectangle 391">
                <a:extLst>
                  <a:ext uri="{FF2B5EF4-FFF2-40B4-BE49-F238E27FC236}">
                    <a16:creationId xmlns="" xmlns:a16="http://schemas.microsoft.com/office/drawing/2014/main" id="{B47859AF-EAC4-B292-B578-5434B3E6D7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6" y="429"/>
                <a:ext cx="1046" cy="2284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6" name="Freeform 392">
                <a:extLst>
                  <a:ext uri="{FF2B5EF4-FFF2-40B4-BE49-F238E27FC236}">
                    <a16:creationId xmlns="" xmlns:a16="http://schemas.microsoft.com/office/drawing/2014/main" id="{B0AF3532-485A-AFE1-370F-F5A9284207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18 w 211"/>
                  <a:gd name="T3" fmla="*/ 30 h 2537"/>
                  <a:gd name="T4" fmla="*/ 2 w 211"/>
                  <a:gd name="T5" fmla="*/ 338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" name="Freeform 393">
                <a:extLst>
                  <a:ext uri="{FF2B5EF4-FFF2-40B4-BE49-F238E27FC236}">
                    <a16:creationId xmlns="" xmlns:a16="http://schemas.microsoft.com/office/drawing/2014/main" id="{D901B97A-5336-66EE-E7B6-907488C5A8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29 w 328"/>
                  <a:gd name="T3" fmla="*/ 18 h 226"/>
                  <a:gd name="T4" fmla="*/ 29 w 328"/>
                  <a:gd name="T5" fmla="*/ 32 h 226"/>
                  <a:gd name="T6" fmla="*/ 0 w 328"/>
                  <a:gd name="T7" fmla="*/ 13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" name="Rectangle 394">
                <a:extLst>
                  <a:ext uri="{FF2B5EF4-FFF2-40B4-BE49-F238E27FC236}">
                    <a16:creationId xmlns="" xmlns:a16="http://schemas.microsoft.com/office/drawing/2014/main" id="{855F8056-C226-E120-54D2-1B45116C79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1" y="695"/>
                <a:ext cx="597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79" name="Group 395">
                <a:extLst>
                  <a:ext uri="{FF2B5EF4-FFF2-40B4-BE49-F238E27FC236}">
                    <a16:creationId xmlns="" xmlns:a16="http://schemas.microsoft.com/office/drawing/2014/main" id="{B09FD5EF-0736-6E52-52C9-179DE8440D0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204" name="AutoShape 396">
                  <a:extLst>
                    <a:ext uri="{FF2B5EF4-FFF2-40B4-BE49-F238E27FC236}">
                      <a16:creationId xmlns="" xmlns:a16="http://schemas.microsoft.com/office/drawing/2014/main" id="{96C436DF-3F8C-5B79-7D0D-E5BAEEF0B18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8"/>
                  <a:ext cx="721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05" name="AutoShape 397">
                  <a:extLst>
                    <a:ext uri="{FF2B5EF4-FFF2-40B4-BE49-F238E27FC236}">
                      <a16:creationId xmlns="" xmlns:a16="http://schemas.microsoft.com/office/drawing/2014/main" id="{1F4FFB92-278C-4797-5DFA-0F8E9FAF07A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4" y="2583"/>
                  <a:ext cx="685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80" name="Rectangle 398">
                <a:extLst>
                  <a:ext uri="{FF2B5EF4-FFF2-40B4-BE49-F238E27FC236}">
                    <a16:creationId xmlns="" xmlns:a16="http://schemas.microsoft.com/office/drawing/2014/main" id="{BCCE8DB7-DAA6-5627-1DA2-6DB3673A28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5" y="1019"/>
                <a:ext cx="597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81" name="Group 399">
                <a:extLst>
                  <a:ext uri="{FF2B5EF4-FFF2-40B4-BE49-F238E27FC236}">
                    <a16:creationId xmlns="" xmlns:a16="http://schemas.microsoft.com/office/drawing/2014/main" id="{3DCE55AA-88AA-01BA-D9BC-CA36A717757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202" name="AutoShape 400">
                  <a:extLst>
                    <a:ext uri="{FF2B5EF4-FFF2-40B4-BE49-F238E27FC236}">
                      <a16:creationId xmlns="" xmlns:a16="http://schemas.microsoft.com/office/drawing/2014/main" id="{995C3FA1-E314-2617-818C-435CF432FD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7" cy="143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03" name="AutoShape 401">
                  <a:extLst>
                    <a:ext uri="{FF2B5EF4-FFF2-40B4-BE49-F238E27FC236}">
                      <a16:creationId xmlns="" xmlns:a16="http://schemas.microsoft.com/office/drawing/2014/main" id="{F17E24AB-5FB3-1566-EB77-2D66FABEC5B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3"/>
                  <a:ext cx="691" cy="11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82" name="Rectangle 402">
                <a:extLst>
                  <a:ext uri="{FF2B5EF4-FFF2-40B4-BE49-F238E27FC236}">
                    <a16:creationId xmlns="" xmlns:a16="http://schemas.microsoft.com/office/drawing/2014/main" id="{55AC684D-6440-8477-1D02-F2C746AD69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6" y="1359"/>
                <a:ext cx="597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3" name="Rectangle 403">
                <a:extLst>
                  <a:ext uri="{FF2B5EF4-FFF2-40B4-BE49-F238E27FC236}">
                    <a16:creationId xmlns="" xmlns:a16="http://schemas.microsoft.com/office/drawing/2014/main" id="{7662A67B-F66D-30AD-608F-02201CD7A2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6"/>
                <a:ext cx="592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84" name="Group 404">
                <a:extLst>
                  <a:ext uri="{FF2B5EF4-FFF2-40B4-BE49-F238E27FC236}">
                    <a16:creationId xmlns="" xmlns:a16="http://schemas.microsoft.com/office/drawing/2014/main" id="{283CB2FE-3DE1-D3CD-F0C1-77355FD4C9F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200" name="AutoShape 405">
                  <a:extLst>
                    <a:ext uri="{FF2B5EF4-FFF2-40B4-BE49-F238E27FC236}">
                      <a16:creationId xmlns="" xmlns:a16="http://schemas.microsoft.com/office/drawing/2014/main" id="{8B4C0706-A4FB-A31B-CAF5-144735F6853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70"/>
                  <a:ext cx="725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01" name="AutoShape 406">
                  <a:extLst>
                    <a:ext uri="{FF2B5EF4-FFF2-40B4-BE49-F238E27FC236}">
                      <a16:creationId xmlns="" xmlns:a16="http://schemas.microsoft.com/office/drawing/2014/main" id="{7FDC0903-8A1D-586E-84DF-3F948078E68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4" y="2585"/>
                  <a:ext cx="690" cy="10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85" name="Freeform 407">
                <a:extLst>
                  <a:ext uri="{FF2B5EF4-FFF2-40B4-BE49-F238E27FC236}">
                    <a16:creationId xmlns="" xmlns:a16="http://schemas.microsoft.com/office/drawing/2014/main" id="{0153B78B-F396-E92B-69E6-C867545F2A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29 w 328"/>
                  <a:gd name="T3" fmla="*/ 17 h 226"/>
                  <a:gd name="T4" fmla="*/ 29 w 328"/>
                  <a:gd name="T5" fmla="*/ 30 h 226"/>
                  <a:gd name="T6" fmla="*/ 0 w 328"/>
                  <a:gd name="T7" fmla="*/ 12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86" name="Group 408">
                <a:extLst>
                  <a:ext uri="{FF2B5EF4-FFF2-40B4-BE49-F238E27FC236}">
                    <a16:creationId xmlns="" xmlns:a16="http://schemas.microsoft.com/office/drawing/2014/main" id="{1C4D496A-564E-2894-3B7E-F9F54456371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198" name="AutoShape 409">
                  <a:extLst>
                    <a:ext uri="{FF2B5EF4-FFF2-40B4-BE49-F238E27FC236}">
                      <a16:creationId xmlns="" xmlns:a16="http://schemas.microsoft.com/office/drawing/2014/main" id="{D8F082FD-BD36-D45A-99E3-7DB8A32B3F2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9" y="2568"/>
                  <a:ext cx="702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99" name="AutoShape 410">
                  <a:extLst>
                    <a:ext uri="{FF2B5EF4-FFF2-40B4-BE49-F238E27FC236}">
                      <a16:creationId xmlns="" xmlns:a16="http://schemas.microsoft.com/office/drawing/2014/main" id="{8B1865FF-AE35-8254-0854-FA49F43CD5D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4" y="2584"/>
                  <a:ext cx="672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87" name="Rectangle 411">
                <a:extLst>
                  <a:ext uri="{FF2B5EF4-FFF2-40B4-BE49-F238E27FC236}">
                    <a16:creationId xmlns="" xmlns:a16="http://schemas.microsoft.com/office/drawing/2014/main" id="{FF3353BB-D996-331A-506D-A6A68F9AE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8" y="429"/>
                <a:ext cx="71" cy="2290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8" name="Freeform 412">
                <a:extLst>
                  <a:ext uri="{FF2B5EF4-FFF2-40B4-BE49-F238E27FC236}">
                    <a16:creationId xmlns="" xmlns:a16="http://schemas.microsoft.com/office/drawing/2014/main" id="{2D9A62DC-1D33-41B5-45A8-7AE96A187F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26 w 296"/>
                  <a:gd name="T3" fmla="*/ 18 h 256"/>
                  <a:gd name="T4" fmla="*/ 26 w 296"/>
                  <a:gd name="T5" fmla="*/ 34 h 256"/>
                  <a:gd name="T6" fmla="*/ 0 w 296"/>
                  <a:gd name="T7" fmla="*/ 12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" name="Freeform 413">
                <a:extLst>
                  <a:ext uri="{FF2B5EF4-FFF2-40B4-BE49-F238E27FC236}">
                    <a16:creationId xmlns="" xmlns:a16="http://schemas.microsoft.com/office/drawing/2014/main" id="{1D56EE17-DABC-913B-9E06-DBC864E786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27 w 304"/>
                  <a:gd name="T3" fmla="*/ 23 h 288"/>
                  <a:gd name="T4" fmla="*/ 25 w 304"/>
                  <a:gd name="T5" fmla="*/ 39 h 288"/>
                  <a:gd name="T6" fmla="*/ 2 w 304"/>
                  <a:gd name="T7" fmla="*/ 17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" name="Oval 414">
                <a:extLst>
                  <a:ext uri="{FF2B5EF4-FFF2-40B4-BE49-F238E27FC236}">
                    <a16:creationId xmlns="" xmlns:a16="http://schemas.microsoft.com/office/drawing/2014/main" id="{4F2318D1-CF55-F20C-880B-B386F8B34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8" y="2612"/>
                <a:ext cx="47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1" name="Freeform 415">
                <a:extLst>
                  <a:ext uri="{FF2B5EF4-FFF2-40B4-BE49-F238E27FC236}">
                    <a16:creationId xmlns="" xmlns:a16="http://schemas.microsoft.com/office/drawing/2014/main" id="{63AB1A42-C5CE-D744-A41F-E0EE0AD625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5 h 240"/>
                  <a:gd name="T2" fmla="*/ 2 w 306"/>
                  <a:gd name="T3" fmla="*/ 33 h 240"/>
                  <a:gd name="T4" fmla="*/ 27 w 306"/>
                  <a:gd name="T5" fmla="*/ 15 h 240"/>
                  <a:gd name="T6" fmla="*/ 26 w 306"/>
                  <a:gd name="T7" fmla="*/ 0 h 240"/>
                  <a:gd name="T8" fmla="*/ 0 w 306"/>
                  <a:gd name="T9" fmla="*/ 15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2" name="AutoShape 416">
                <a:extLst>
                  <a:ext uri="{FF2B5EF4-FFF2-40B4-BE49-F238E27FC236}">
                    <a16:creationId xmlns="" xmlns:a16="http://schemas.microsoft.com/office/drawing/2014/main" id="{3CD56361-3080-CA46-9F6C-8C95A6795C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6"/>
                <a:ext cx="1198" cy="149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3" name="AutoShape 417">
                <a:extLst>
                  <a:ext uri="{FF2B5EF4-FFF2-40B4-BE49-F238E27FC236}">
                    <a16:creationId xmlns="" xmlns:a16="http://schemas.microsoft.com/office/drawing/2014/main" id="{5AACC680-19BC-9110-8EB3-9FF0255F4A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6" y="2713"/>
                <a:ext cx="1070" cy="8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4" name="Oval 418">
                <a:extLst>
                  <a:ext uri="{FF2B5EF4-FFF2-40B4-BE49-F238E27FC236}">
                    <a16:creationId xmlns="" xmlns:a16="http://schemas.microsoft.com/office/drawing/2014/main" id="{7EBEC741-CEC6-C22D-D25A-F32FB6ABE5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6" y="2384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5" name="Oval 419">
                <a:extLst>
                  <a:ext uri="{FF2B5EF4-FFF2-40B4-BE49-F238E27FC236}">
                    <a16:creationId xmlns="" xmlns:a16="http://schemas.microsoft.com/office/drawing/2014/main" id="{CE1908D2-6DCC-9F01-45D4-D10BDB7E45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6" y="2384"/>
                <a:ext cx="161" cy="143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sz="1800">
                  <a:solidFill>
                    <a:srgbClr val="FF0000"/>
                  </a:solidFill>
                  <a:cs typeface="Arial" charset="0"/>
                </a:endParaRPr>
              </a:p>
            </p:txBody>
          </p:sp>
          <p:sp>
            <p:nvSpPr>
              <p:cNvPr id="196" name="Oval 420">
                <a:extLst>
                  <a:ext uri="{FF2B5EF4-FFF2-40B4-BE49-F238E27FC236}">
                    <a16:creationId xmlns="" xmlns:a16="http://schemas.microsoft.com/office/drawing/2014/main" id="{B2256977-8D00-A5F4-963A-0AC72D3A7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1" y="2379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7" name="Rectangle 421">
                <a:extLst>
                  <a:ext uri="{FF2B5EF4-FFF2-40B4-BE49-F238E27FC236}">
                    <a16:creationId xmlns="" xmlns:a16="http://schemas.microsoft.com/office/drawing/2014/main" id="{C52CE689-E551-E870-1D59-6BF4A04529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3" y="1837"/>
                <a:ext cx="85" cy="760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2" name="Group 356">
              <a:extLst>
                <a:ext uri="{FF2B5EF4-FFF2-40B4-BE49-F238E27FC236}">
                  <a16:creationId xmlns="" xmlns:a16="http://schemas.microsoft.com/office/drawing/2014/main" id="{4E3B0737-D8ED-2C7D-E900-0DD7D343AFA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91" y="2634"/>
              <a:ext cx="301" cy="451"/>
              <a:chOff x="4140" y="429"/>
              <a:chExt cx="1425" cy="2396"/>
            </a:xfrm>
          </p:grpSpPr>
          <p:sp>
            <p:nvSpPr>
              <p:cNvPr id="142" name="Freeform 357">
                <a:extLst>
                  <a:ext uri="{FF2B5EF4-FFF2-40B4-BE49-F238E27FC236}">
                    <a16:creationId xmlns="" xmlns:a16="http://schemas.microsoft.com/office/drawing/2014/main" id="{3C3F0FA1-9EAC-D049-C2F3-74118905DB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6 w 354"/>
                  <a:gd name="T1" fmla="*/ 0 h 2742"/>
                  <a:gd name="T2" fmla="*/ 30 w 354"/>
                  <a:gd name="T3" fmla="*/ 46 h 2742"/>
                  <a:gd name="T4" fmla="*/ 30 w 354"/>
                  <a:gd name="T5" fmla="*/ 354 h 2742"/>
                  <a:gd name="T6" fmla="*/ 0 w 354"/>
                  <a:gd name="T7" fmla="*/ 371 h 2742"/>
                  <a:gd name="T8" fmla="*/ 6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" name="Rectangle 358">
                <a:extLst>
                  <a:ext uri="{FF2B5EF4-FFF2-40B4-BE49-F238E27FC236}">
                    <a16:creationId xmlns="" xmlns:a16="http://schemas.microsoft.com/office/drawing/2014/main" id="{F6D42271-CD2F-700F-9806-897205C5AC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6" y="429"/>
                <a:ext cx="1046" cy="2284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4" name="Freeform 359">
                <a:extLst>
                  <a:ext uri="{FF2B5EF4-FFF2-40B4-BE49-F238E27FC236}">
                    <a16:creationId xmlns="" xmlns:a16="http://schemas.microsoft.com/office/drawing/2014/main" id="{2B8E9DEE-1FFD-D106-2A24-E3F6B6AD5E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18 w 211"/>
                  <a:gd name="T3" fmla="*/ 30 h 2537"/>
                  <a:gd name="T4" fmla="*/ 2 w 211"/>
                  <a:gd name="T5" fmla="*/ 338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" name="Freeform 360">
                <a:extLst>
                  <a:ext uri="{FF2B5EF4-FFF2-40B4-BE49-F238E27FC236}">
                    <a16:creationId xmlns="" xmlns:a16="http://schemas.microsoft.com/office/drawing/2014/main" id="{17F4889A-6226-FA5F-0EC0-C00C154027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29 w 328"/>
                  <a:gd name="T3" fmla="*/ 18 h 226"/>
                  <a:gd name="T4" fmla="*/ 29 w 328"/>
                  <a:gd name="T5" fmla="*/ 32 h 226"/>
                  <a:gd name="T6" fmla="*/ 0 w 328"/>
                  <a:gd name="T7" fmla="*/ 13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" name="Rectangle 361">
                <a:extLst>
                  <a:ext uri="{FF2B5EF4-FFF2-40B4-BE49-F238E27FC236}">
                    <a16:creationId xmlns="" xmlns:a16="http://schemas.microsoft.com/office/drawing/2014/main" id="{17409983-3872-DBE8-05D6-D543D2B391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1" y="695"/>
                <a:ext cx="597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47" name="Group 362">
                <a:extLst>
                  <a:ext uri="{FF2B5EF4-FFF2-40B4-BE49-F238E27FC236}">
                    <a16:creationId xmlns="" xmlns:a16="http://schemas.microsoft.com/office/drawing/2014/main" id="{96E1FCB6-1174-8BD5-E643-70FC0C0F2D4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172" name="AutoShape 363">
                  <a:extLst>
                    <a:ext uri="{FF2B5EF4-FFF2-40B4-BE49-F238E27FC236}">
                      <a16:creationId xmlns="" xmlns:a16="http://schemas.microsoft.com/office/drawing/2014/main" id="{75337830-E799-7575-3F16-907A60041B9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8"/>
                  <a:ext cx="721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73" name="AutoShape 364">
                  <a:extLst>
                    <a:ext uri="{FF2B5EF4-FFF2-40B4-BE49-F238E27FC236}">
                      <a16:creationId xmlns="" xmlns:a16="http://schemas.microsoft.com/office/drawing/2014/main" id="{AEC7C27E-D360-E861-E08C-E1929B3622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4" y="2583"/>
                  <a:ext cx="685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48" name="Rectangle 365">
                <a:extLst>
                  <a:ext uri="{FF2B5EF4-FFF2-40B4-BE49-F238E27FC236}">
                    <a16:creationId xmlns="" xmlns:a16="http://schemas.microsoft.com/office/drawing/2014/main" id="{781F6095-8527-28A5-357E-D8DCC0C3A0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5" y="1019"/>
                <a:ext cx="597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49" name="Group 366">
                <a:extLst>
                  <a:ext uri="{FF2B5EF4-FFF2-40B4-BE49-F238E27FC236}">
                    <a16:creationId xmlns="" xmlns:a16="http://schemas.microsoft.com/office/drawing/2014/main" id="{39716A63-6E8A-4983-AABE-2428F852373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170" name="AutoShape 367">
                  <a:extLst>
                    <a:ext uri="{FF2B5EF4-FFF2-40B4-BE49-F238E27FC236}">
                      <a16:creationId xmlns="" xmlns:a16="http://schemas.microsoft.com/office/drawing/2014/main" id="{EBD26481-8817-D3DA-B6BB-EF37C353152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7" cy="143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71" name="AutoShape 368">
                  <a:extLst>
                    <a:ext uri="{FF2B5EF4-FFF2-40B4-BE49-F238E27FC236}">
                      <a16:creationId xmlns="" xmlns:a16="http://schemas.microsoft.com/office/drawing/2014/main" id="{59335918-B6FC-7B5D-D521-B63C01FA6FF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3"/>
                  <a:ext cx="691" cy="11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50" name="Rectangle 369">
                <a:extLst>
                  <a:ext uri="{FF2B5EF4-FFF2-40B4-BE49-F238E27FC236}">
                    <a16:creationId xmlns="" xmlns:a16="http://schemas.microsoft.com/office/drawing/2014/main" id="{11B72E55-9123-2B5F-02F3-A0B79E2BA3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6" y="1359"/>
                <a:ext cx="597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1" name="Rectangle 370">
                <a:extLst>
                  <a:ext uri="{FF2B5EF4-FFF2-40B4-BE49-F238E27FC236}">
                    <a16:creationId xmlns="" xmlns:a16="http://schemas.microsoft.com/office/drawing/2014/main" id="{D822A713-41A1-3E3A-1568-438FE4B8EB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6"/>
                <a:ext cx="592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52" name="Group 371">
                <a:extLst>
                  <a:ext uri="{FF2B5EF4-FFF2-40B4-BE49-F238E27FC236}">
                    <a16:creationId xmlns="" xmlns:a16="http://schemas.microsoft.com/office/drawing/2014/main" id="{B2257FBB-5271-30B6-065B-5455B979A85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168" name="AutoShape 372">
                  <a:extLst>
                    <a:ext uri="{FF2B5EF4-FFF2-40B4-BE49-F238E27FC236}">
                      <a16:creationId xmlns="" xmlns:a16="http://schemas.microsoft.com/office/drawing/2014/main" id="{E51B06E9-C0E4-1318-69C4-9114DAC40ED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70"/>
                  <a:ext cx="725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69" name="AutoShape 373">
                  <a:extLst>
                    <a:ext uri="{FF2B5EF4-FFF2-40B4-BE49-F238E27FC236}">
                      <a16:creationId xmlns="" xmlns:a16="http://schemas.microsoft.com/office/drawing/2014/main" id="{242815D7-EFF6-17D0-65B7-FD5E406DABB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4" y="2585"/>
                  <a:ext cx="690" cy="10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53" name="Freeform 374">
                <a:extLst>
                  <a:ext uri="{FF2B5EF4-FFF2-40B4-BE49-F238E27FC236}">
                    <a16:creationId xmlns="" xmlns:a16="http://schemas.microsoft.com/office/drawing/2014/main" id="{C7324186-9B8E-4DA7-F7F1-47761C9DF7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29 w 328"/>
                  <a:gd name="T3" fmla="*/ 17 h 226"/>
                  <a:gd name="T4" fmla="*/ 29 w 328"/>
                  <a:gd name="T5" fmla="*/ 30 h 226"/>
                  <a:gd name="T6" fmla="*/ 0 w 328"/>
                  <a:gd name="T7" fmla="*/ 12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54" name="Group 375">
                <a:extLst>
                  <a:ext uri="{FF2B5EF4-FFF2-40B4-BE49-F238E27FC236}">
                    <a16:creationId xmlns="" xmlns:a16="http://schemas.microsoft.com/office/drawing/2014/main" id="{D006C5C9-2D06-1E62-6DB1-A21FDA46761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166" name="AutoShape 376">
                  <a:extLst>
                    <a:ext uri="{FF2B5EF4-FFF2-40B4-BE49-F238E27FC236}">
                      <a16:creationId xmlns="" xmlns:a16="http://schemas.microsoft.com/office/drawing/2014/main" id="{ED0BBA70-844B-257A-D331-B1B87CA2072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9" y="2568"/>
                  <a:ext cx="702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67" name="AutoShape 377">
                  <a:extLst>
                    <a:ext uri="{FF2B5EF4-FFF2-40B4-BE49-F238E27FC236}">
                      <a16:creationId xmlns="" xmlns:a16="http://schemas.microsoft.com/office/drawing/2014/main" id="{6A603702-6F9F-4057-5429-E08B8686AE4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4" y="2584"/>
                  <a:ext cx="672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55" name="Rectangle 378">
                <a:extLst>
                  <a:ext uri="{FF2B5EF4-FFF2-40B4-BE49-F238E27FC236}">
                    <a16:creationId xmlns="" xmlns:a16="http://schemas.microsoft.com/office/drawing/2014/main" id="{B1DC0742-B833-0772-CB85-43C165F5D4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8" y="429"/>
                <a:ext cx="71" cy="2290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6" name="Freeform 379">
                <a:extLst>
                  <a:ext uri="{FF2B5EF4-FFF2-40B4-BE49-F238E27FC236}">
                    <a16:creationId xmlns="" xmlns:a16="http://schemas.microsoft.com/office/drawing/2014/main" id="{E32C254A-AE3B-EC0E-CE24-3F58576295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26 w 296"/>
                  <a:gd name="T3" fmla="*/ 18 h 256"/>
                  <a:gd name="T4" fmla="*/ 26 w 296"/>
                  <a:gd name="T5" fmla="*/ 34 h 256"/>
                  <a:gd name="T6" fmla="*/ 0 w 296"/>
                  <a:gd name="T7" fmla="*/ 12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" name="Freeform 380">
                <a:extLst>
                  <a:ext uri="{FF2B5EF4-FFF2-40B4-BE49-F238E27FC236}">
                    <a16:creationId xmlns="" xmlns:a16="http://schemas.microsoft.com/office/drawing/2014/main" id="{0AF0F53A-5068-177D-F01E-771E7ED5A9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27 w 304"/>
                  <a:gd name="T3" fmla="*/ 23 h 288"/>
                  <a:gd name="T4" fmla="*/ 25 w 304"/>
                  <a:gd name="T5" fmla="*/ 39 h 288"/>
                  <a:gd name="T6" fmla="*/ 2 w 304"/>
                  <a:gd name="T7" fmla="*/ 17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" name="Oval 381">
                <a:extLst>
                  <a:ext uri="{FF2B5EF4-FFF2-40B4-BE49-F238E27FC236}">
                    <a16:creationId xmlns="" xmlns:a16="http://schemas.microsoft.com/office/drawing/2014/main" id="{AB060858-998D-DD75-D2C3-F53AD4F543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8" y="2612"/>
                <a:ext cx="47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9" name="Freeform 382">
                <a:extLst>
                  <a:ext uri="{FF2B5EF4-FFF2-40B4-BE49-F238E27FC236}">
                    <a16:creationId xmlns="" xmlns:a16="http://schemas.microsoft.com/office/drawing/2014/main" id="{58FC8F13-F7A7-9FF3-5444-177D19FF99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5 h 240"/>
                  <a:gd name="T2" fmla="*/ 2 w 306"/>
                  <a:gd name="T3" fmla="*/ 33 h 240"/>
                  <a:gd name="T4" fmla="*/ 27 w 306"/>
                  <a:gd name="T5" fmla="*/ 15 h 240"/>
                  <a:gd name="T6" fmla="*/ 26 w 306"/>
                  <a:gd name="T7" fmla="*/ 0 h 240"/>
                  <a:gd name="T8" fmla="*/ 0 w 306"/>
                  <a:gd name="T9" fmla="*/ 15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" name="AutoShape 383">
                <a:extLst>
                  <a:ext uri="{FF2B5EF4-FFF2-40B4-BE49-F238E27FC236}">
                    <a16:creationId xmlns="" xmlns:a16="http://schemas.microsoft.com/office/drawing/2014/main" id="{68B975A6-4B5D-0D3C-10EA-E340919BF8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6"/>
                <a:ext cx="1198" cy="149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1" name="AutoShape 384">
                <a:extLst>
                  <a:ext uri="{FF2B5EF4-FFF2-40B4-BE49-F238E27FC236}">
                    <a16:creationId xmlns="" xmlns:a16="http://schemas.microsoft.com/office/drawing/2014/main" id="{C5D7629E-E84E-300B-E627-7FD933C846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6" y="2713"/>
                <a:ext cx="1070" cy="8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2" name="Oval 385">
                <a:extLst>
                  <a:ext uri="{FF2B5EF4-FFF2-40B4-BE49-F238E27FC236}">
                    <a16:creationId xmlns="" xmlns:a16="http://schemas.microsoft.com/office/drawing/2014/main" id="{42CDA561-8947-8A76-FB2B-BEA0E77CB9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6" y="2384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3" name="Oval 386">
                <a:extLst>
                  <a:ext uri="{FF2B5EF4-FFF2-40B4-BE49-F238E27FC236}">
                    <a16:creationId xmlns="" xmlns:a16="http://schemas.microsoft.com/office/drawing/2014/main" id="{F853BD24-E4D6-6CBE-9FD5-F66818418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6" y="2384"/>
                <a:ext cx="161" cy="143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sz="1800">
                  <a:solidFill>
                    <a:srgbClr val="FF0000"/>
                  </a:solidFill>
                  <a:cs typeface="Arial" charset="0"/>
                </a:endParaRPr>
              </a:p>
            </p:txBody>
          </p:sp>
          <p:sp>
            <p:nvSpPr>
              <p:cNvPr id="164" name="Oval 387">
                <a:extLst>
                  <a:ext uri="{FF2B5EF4-FFF2-40B4-BE49-F238E27FC236}">
                    <a16:creationId xmlns="" xmlns:a16="http://schemas.microsoft.com/office/drawing/2014/main" id="{04A77E0B-7A04-7D3B-AEF1-6E43038F1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1" y="2379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5" name="Rectangle 388">
                <a:extLst>
                  <a:ext uri="{FF2B5EF4-FFF2-40B4-BE49-F238E27FC236}">
                    <a16:creationId xmlns="" xmlns:a16="http://schemas.microsoft.com/office/drawing/2014/main" id="{7A18C9F2-03F0-A2AC-9F8B-68473322D1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3" y="1837"/>
                <a:ext cx="85" cy="760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3" name="Group 320">
              <a:extLst>
                <a:ext uri="{FF2B5EF4-FFF2-40B4-BE49-F238E27FC236}">
                  <a16:creationId xmlns="" xmlns:a16="http://schemas.microsoft.com/office/drawing/2014/main" id="{A995296E-0919-6F5E-97CB-9E1F7D6D1F5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05" y="1159"/>
              <a:ext cx="301" cy="451"/>
              <a:chOff x="4140" y="429"/>
              <a:chExt cx="1425" cy="2396"/>
            </a:xfrm>
          </p:grpSpPr>
          <p:sp>
            <p:nvSpPr>
              <p:cNvPr id="110" name="Freeform 321">
                <a:extLst>
                  <a:ext uri="{FF2B5EF4-FFF2-40B4-BE49-F238E27FC236}">
                    <a16:creationId xmlns="" xmlns:a16="http://schemas.microsoft.com/office/drawing/2014/main" id="{D92330CE-08F6-6A5C-662E-3880CD4B52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6 w 354"/>
                  <a:gd name="T1" fmla="*/ 0 h 2742"/>
                  <a:gd name="T2" fmla="*/ 30 w 354"/>
                  <a:gd name="T3" fmla="*/ 46 h 2742"/>
                  <a:gd name="T4" fmla="*/ 30 w 354"/>
                  <a:gd name="T5" fmla="*/ 354 h 2742"/>
                  <a:gd name="T6" fmla="*/ 0 w 354"/>
                  <a:gd name="T7" fmla="*/ 371 h 2742"/>
                  <a:gd name="T8" fmla="*/ 6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" name="Rectangle 322">
                <a:extLst>
                  <a:ext uri="{FF2B5EF4-FFF2-40B4-BE49-F238E27FC236}">
                    <a16:creationId xmlns="" xmlns:a16="http://schemas.microsoft.com/office/drawing/2014/main" id="{8D9F7A09-743E-0CB0-E2B9-500ABB94DE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6" y="429"/>
                <a:ext cx="1046" cy="2284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2" name="Freeform 323">
                <a:extLst>
                  <a:ext uri="{FF2B5EF4-FFF2-40B4-BE49-F238E27FC236}">
                    <a16:creationId xmlns="" xmlns:a16="http://schemas.microsoft.com/office/drawing/2014/main" id="{9381AB47-087C-5C5E-54CF-2608D1D7BD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18 w 211"/>
                  <a:gd name="T3" fmla="*/ 30 h 2537"/>
                  <a:gd name="T4" fmla="*/ 2 w 211"/>
                  <a:gd name="T5" fmla="*/ 338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" name="Freeform 324">
                <a:extLst>
                  <a:ext uri="{FF2B5EF4-FFF2-40B4-BE49-F238E27FC236}">
                    <a16:creationId xmlns="" xmlns:a16="http://schemas.microsoft.com/office/drawing/2014/main" id="{141A0736-0978-F7B4-3418-A91F327744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29 w 328"/>
                  <a:gd name="T3" fmla="*/ 18 h 226"/>
                  <a:gd name="T4" fmla="*/ 29 w 328"/>
                  <a:gd name="T5" fmla="*/ 32 h 226"/>
                  <a:gd name="T6" fmla="*/ 0 w 328"/>
                  <a:gd name="T7" fmla="*/ 13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" name="Rectangle 325">
                <a:extLst>
                  <a:ext uri="{FF2B5EF4-FFF2-40B4-BE49-F238E27FC236}">
                    <a16:creationId xmlns="" xmlns:a16="http://schemas.microsoft.com/office/drawing/2014/main" id="{F0754B8E-0098-E47D-7B12-3C876295D0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1" y="695"/>
                <a:ext cx="597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15" name="Group 326">
                <a:extLst>
                  <a:ext uri="{FF2B5EF4-FFF2-40B4-BE49-F238E27FC236}">
                    <a16:creationId xmlns="" xmlns:a16="http://schemas.microsoft.com/office/drawing/2014/main" id="{68C1DC66-B7F5-EF6A-A4A0-EEBC9CDB7DC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140" name="AutoShape 327">
                  <a:extLst>
                    <a:ext uri="{FF2B5EF4-FFF2-40B4-BE49-F238E27FC236}">
                      <a16:creationId xmlns="" xmlns:a16="http://schemas.microsoft.com/office/drawing/2014/main" id="{934E827F-4E42-8ED5-1376-B9A0088A94F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8"/>
                  <a:ext cx="721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41" name="AutoShape 328">
                  <a:extLst>
                    <a:ext uri="{FF2B5EF4-FFF2-40B4-BE49-F238E27FC236}">
                      <a16:creationId xmlns="" xmlns:a16="http://schemas.microsoft.com/office/drawing/2014/main" id="{1824E65A-59C8-3054-DD03-9B11CC671A3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4" y="2583"/>
                  <a:ext cx="685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16" name="Rectangle 329">
                <a:extLst>
                  <a:ext uri="{FF2B5EF4-FFF2-40B4-BE49-F238E27FC236}">
                    <a16:creationId xmlns="" xmlns:a16="http://schemas.microsoft.com/office/drawing/2014/main" id="{02EE9F75-C135-0492-2153-EF6A136EAB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5" y="1019"/>
                <a:ext cx="597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17" name="Group 330">
                <a:extLst>
                  <a:ext uri="{FF2B5EF4-FFF2-40B4-BE49-F238E27FC236}">
                    <a16:creationId xmlns="" xmlns:a16="http://schemas.microsoft.com/office/drawing/2014/main" id="{AEFD6D61-93BE-2555-20DA-CFB038466CB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138" name="AutoShape 331">
                  <a:extLst>
                    <a:ext uri="{FF2B5EF4-FFF2-40B4-BE49-F238E27FC236}">
                      <a16:creationId xmlns="" xmlns:a16="http://schemas.microsoft.com/office/drawing/2014/main" id="{77C06769-3B64-08C9-874A-6B46D792F6F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7" cy="143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9" name="AutoShape 332">
                  <a:extLst>
                    <a:ext uri="{FF2B5EF4-FFF2-40B4-BE49-F238E27FC236}">
                      <a16:creationId xmlns="" xmlns:a16="http://schemas.microsoft.com/office/drawing/2014/main" id="{32CF2E46-0560-EFA0-2B20-221144C9EE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3"/>
                  <a:ext cx="691" cy="11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18" name="Rectangle 333">
                <a:extLst>
                  <a:ext uri="{FF2B5EF4-FFF2-40B4-BE49-F238E27FC236}">
                    <a16:creationId xmlns="" xmlns:a16="http://schemas.microsoft.com/office/drawing/2014/main" id="{4DD447A4-7F47-7E93-A02D-8127DFEC25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6" y="1359"/>
                <a:ext cx="597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9" name="Rectangle 334">
                <a:extLst>
                  <a:ext uri="{FF2B5EF4-FFF2-40B4-BE49-F238E27FC236}">
                    <a16:creationId xmlns="" xmlns:a16="http://schemas.microsoft.com/office/drawing/2014/main" id="{B644EA97-AA85-00C8-E956-05FE7B620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6"/>
                <a:ext cx="592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20" name="Group 335">
                <a:extLst>
                  <a:ext uri="{FF2B5EF4-FFF2-40B4-BE49-F238E27FC236}">
                    <a16:creationId xmlns="" xmlns:a16="http://schemas.microsoft.com/office/drawing/2014/main" id="{6B8F68D0-9D21-2688-1234-E81953AB237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136" name="AutoShape 336">
                  <a:extLst>
                    <a:ext uri="{FF2B5EF4-FFF2-40B4-BE49-F238E27FC236}">
                      <a16:creationId xmlns="" xmlns:a16="http://schemas.microsoft.com/office/drawing/2014/main" id="{5F941C3D-B6C7-733B-BFA9-25AAAF1F077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70"/>
                  <a:ext cx="725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7" name="AutoShape 337">
                  <a:extLst>
                    <a:ext uri="{FF2B5EF4-FFF2-40B4-BE49-F238E27FC236}">
                      <a16:creationId xmlns="" xmlns:a16="http://schemas.microsoft.com/office/drawing/2014/main" id="{E116131C-894C-7A5E-F27E-AE9A1B433DE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4" y="2585"/>
                  <a:ext cx="690" cy="10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21" name="Freeform 338">
                <a:extLst>
                  <a:ext uri="{FF2B5EF4-FFF2-40B4-BE49-F238E27FC236}">
                    <a16:creationId xmlns="" xmlns:a16="http://schemas.microsoft.com/office/drawing/2014/main" id="{66B405E0-66F4-C02F-BEFF-D82E380022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29 w 328"/>
                  <a:gd name="T3" fmla="*/ 17 h 226"/>
                  <a:gd name="T4" fmla="*/ 29 w 328"/>
                  <a:gd name="T5" fmla="*/ 30 h 226"/>
                  <a:gd name="T6" fmla="*/ 0 w 328"/>
                  <a:gd name="T7" fmla="*/ 12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22" name="Group 339">
                <a:extLst>
                  <a:ext uri="{FF2B5EF4-FFF2-40B4-BE49-F238E27FC236}">
                    <a16:creationId xmlns="" xmlns:a16="http://schemas.microsoft.com/office/drawing/2014/main" id="{612F146D-97B6-C849-0E1E-824C1633395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134" name="AutoShape 340">
                  <a:extLst>
                    <a:ext uri="{FF2B5EF4-FFF2-40B4-BE49-F238E27FC236}">
                      <a16:creationId xmlns="" xmlns:a16="http://schemas.microsoft.com/office/drawing/2014/main" id="{EA5E591F-9E70-C7FA-B97A-E55BAA0B0EC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9" y="2568"/>
                  <a:ext cx="702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5" name="AutoShape 341">
                  <a:extLst>
                    <a:ext uri="{FF2B5EF4-FFF2-40B4-BE49-F238E27FC236}">
                      <a16:creationId xmlns="" xmlns:a16="http://schemas.microsoft.com/office/drawing/2014/main" id="{876F1A13-02AF-63B4-8444-F5EB62131F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4" y="2584"/>
                  <a:ext cx="672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23" name="Rectangle 342">
                <a:extLst>
                  <a:ext uri="{FF2B5EF4-FFF2-40B4-BE49-F238E27FC236}">
                    <a16:creationId xmlns="" xmlns:a16="http://schemas.microsoft.com/office/drawing/2014/main" id="{B04627D4-DA79-1F27-1725-5F5349987F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8" y="429"/>
                <a:ext cx="71" cy="2290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4" name="Freeform 343">
                <a:extLst>
                  <a:ext uri="{FF2B5EF4-FFF2-40B4-BE49-F238E27FC236}">
                    <a16:creationId xmlns="" xmlns:a16="http://schemas.microsoft.com/office/drawing/2014/main" id="{616901E0-6B50-D8B5-0F75-BA7D9F533F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26 w 296"/>
                  <a:gd name="T3" fmla="*/ 18 h 256"/>
                  <a:gd name="T4" fmla="*/ 26 w 296"/>
                  <a:gd name="T5" fmla="*/ 34 h 256"/>
                  <a:gd name="T6" fmla="*/ 0 w 296"/>
                  <a:gd name="T7" fmla="*/ 12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" name="Freeform 344">
                <a:extLst>
                  <a:ext uri="{FF2B5EF4-FFF2-40B4-BE49-F238E27FC236}">
                    <a16:creationId xmlns="" xmlns:a16="http://schemas.microsoft.com/office/drawing/2014/main" id="{AF764DD8-46E9-2E59-7FB2-7539F9B17C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27 w 304"/>
                  <a:gd name="T3" fmla="*/ 23 h 288"/>
                  <a:gd name="T4" fmla="*/ 25 w 304"/>
                  <a:gd name="T5" fmla="*/ 39 h 288"/>
                  <a:gd name="T6" fmla="*/ 2 w 304"/>
                  <a:gd name="T7" fmla="*/ 17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" name="Oval 345">
                <a:extLst>
                  <a:ext uri="{FF2B5EF4-FFF2-40B4-BE49-F238E27FC236}">
                    <a16:creationId xmlns="" xmlns:a16="http://schemas.microsoft.com/office/drawing/2014/main" id="{37EBBD05-A368-C86B-8604-EEC49E43E6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8" y="2612"/>
                <a:ext cx="47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7" name="Freeform 346">
                <a:extLst>
                  <a:ext uri="{FF2B5EF4-FFF2-40B4-BE49-F238E27FC236}">
                    <a16:creationId xmlns="" xmlns:a16="http://schemas.microsoft.com/office/drawing/2014/main" id="{88E5BAFE-7531-3241-046F-84CE1DA628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5 h 240"/>
                  <a:gd name="T2" fmla="*/ 2 w 306"/>
                  <a:gd name="T3" fmla="*/ 33 h 240"/>
                  <a:gd name="T4" fmla="*/ 27 w 306"/>
                  <a:gd name="T5" fmla="*/ 15 h 240"/>
                  <a:gd name="T6" fmla="*/ 26 w 306"/>
                  <a:gd name="T7" fmla="*/ 0 h 240"/>
                  <a:gd name="T8" fmla="*/ 0 w 306"/>
                  <a:gd name="T9" fmla="*/ 15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" name="AutoShape 347">
                <a:extLst>
                  <a:ext uri="{FF2B5EF4-FFF2-40B4-BE49-F238E27FC236}">
                    <a16:creationId xmlns="" xmlns:a16="http://schemas.microsoft.com/office/drawing/2014/main" id="{75820DD4-2FF6-197D-1E07-3338B485CC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6"/>
                <a:ext cx="1198" cy="149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9" name="AutoShape 348">
                <a:extLst>
                  <a:ext uri="{FF2B5EF4-FFF2-40B4-BE49-F238E27FC236}">
                    <a16:creationId xmlns="" xmlns:a16="http://schemas.microsoft.com/office/drawing/2014/main" id="{340F5FD4-0F1D-6C63-E0FB-1B068AB7AA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6" y="2713"/>
                <a:ext cx="1070" cy="8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0" name="Oval 349">
                <a:extLst>
                  <a:ext uri="{FF2B5EF4-FFF2-40B4-BE49-F238E27FC236}">
                    <a16:creationId xmlns="" xmlns:a16="http://schemas.microsoft.com/office/drawing/2014/main" id="{3879C3AC-DBE5-82BD-5334-D4AB6770DC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6" y="2384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1" name="Oval 350">
                <a:extLst>
                  <a:ext uri="{FF2B5EF4-FFF2-40B4-BE49-F238E27FC236}">
                    <a16:creationId xmlns="" xmlns:a16="http://schemas.microsoft.com/office/drawing/2014/main" id="{F68C1A3E-24FF-0893-9EDC-CE7E242C05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6" y="2384"/>
                <a:ext cx="161" cy="143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sz="1800">
                  <a:solidFill>
                    <a:srgbClr val="FF0000"/>
                  </a:solidFill>
                  <a:cs typeface="Arial" charset="0"/>
                </a:endParaRPr>
              </a:p>
            </p:txBody>
          </p:sp>
          <p:sp>
            <p:nvSpPr>
              <p:cNvPr id="132" name="Oval 351">
                <a:extLst>
                  <a:ext uri="{FF2B5EF4-FFF2-40B4-BE49-F238E27FC236}">
                    <a16:creationId xmlns="" xmlns:a16="http://schemas.microsoft.com/office/drawing/2014/main" id="{BD184C9B-E372-97B8-16BE-7960A1F189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1" y="2379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3" name="Rectangle 352">
                <a:extLst>
                  <a:ext uri="{FF2B5EF4-FFF2-40B4-BE49-F238E27FC236}">
                    <a16:creationId xmlns="" xmlns:a16="http://schemas.microsoft.com/office/drawing/2014/main" id="{1DB1903D-9434-55C5-3DEA-F76DB94989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3" y="1837"/>
                <a:ext cx="85" cy="760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4" name="Line 9">
              <a:extLst>
                <a:ext uri="{FF2B5EF4-FFF2-40B4-BE49-F238E27FC236}">
                  <a16:creationId xmlns="" xmlns:a16="http://schemas.microsoft.com/office/drawing/2014/main" id="{3415498E-740F-8E84-3A83-70037A4535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34" y="1642"/>
              <a:ext cx="708" cy="498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5" name="Group 19">
              <a:extLst>
                <a:ext uri="{FF2B5EF4-FFF2-40B4-BE49-F238E27FC236}">
                  <a16:creationId xmlns="" xmlns:a16="http://schemas.microsoft.com/office/drawing/2014/main" id="{18E697E4-10EB-D341-FECA-4F08F5C7481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66" y="1881"/>
              <a:ext cx="510" cy="661"/>
              <a:chOff x="4296" y="2627"/>
              <a:chExt cx="510" cy="661"/>
            </a:xfrm>
          </p:grpSpPr>
          <p:sp>
            <p:nvSpPr>
              <p:cNvPr id="95" name="Rectangle 20">
                <a:extLst>
                  <a:ext uri="{FF2B5EF4-FFF2-40B4-BE49-F238E27FC236}">
                    <a16:creationId xmlns="" xmlns:a16="http://schemas.microsoft.com/office/drawing/2014/main" id="{CD89CBDC-D287-7F85-0CDF-83FC07CF56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96" y="2652"/>
                <a:ext cx="510" cy="636"/>
              </a:xfrm>
              <a:prstGeom prst="rect">
                <a:avLst/>
              </a:prstGeom>
              <a:solidFill>
                <a:schemeClr val="hlink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96" name="Text Box 21">
                <a:extLst>
                  <a:ext uri="{FF2B5EF4-FFF2-40B4-BE49-F238E27FC236}">
                    <a16:creationId xmlns="" xmlns:a16="http://schemas.microsoft.com/office/drawing/2014/main" id="{954742DB-D677-71F8-1B37-12CE48B16C0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04" y="2627"/>
                <a:ext cx="472" cy="3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0"/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0"/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0"/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0"/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sz="1600"/>
                  <a:t>mail</a:t>
                </a: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sz="1600"/>
                  <a:t>server</a:t>
                </a:r>
                <a:endParaRPr lang="en-US" sz="2400"/>
              </a:p>
            </p:txBody>
          </p:sp>
          <p:sp>
            <p:nvSpPr>
              <p:cNvPr id="97" name="Rectangle 22">
                <a:extLst>
                  <a:ext uri="{FF2B5EF4-FFF2-40B4-BE49-F238E27FC236}">
                    <a16:creationId xmlns="" xmlns:a16="http://schemas.microsoft.com/office/drawing/2014/main" id="{FF885782-F6E9-5851-14BB-D84E6DE934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0" y="3006"/>
                <a:ext cx="450" cy="120"/>
              </a:xfrm>
              <a:prstGeom prst="rect">
                <a:avLst/>
              </a:prstGeom>
              <a:solidFill>
                <a:srgbClr val="00FF00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98" name="Line 23">
                <a:extLst>
                  <a:ext uri="{FF2B5EF4-FFF2-40B4-BE49-F238E27FC236}">
                    <a16:creationId xmlns="" xmlns:a16="http://schemas.microsoft.com/office/drawing/2014/main" id="{A4EA220F-E4E6-9F24-A89F-94FE042C42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69" y="3034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9" name="Line 24">
                <a:extLst>
                  <a:ext uri="{FF2B5EF4-FFF2-40B4-BE49-F238E27FC236}">
                    <a16:creationId xmlns="" xmlns:a16="http://schemas.microsoft.com/office/drawing/2014/main" id="{6E93D9C5-C3E8-79DC-2DE3-C9B43F137B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78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0" name="Line 25">
                <a:extLst>
                  <a:ext uri="{FF2B5EF4-FFF2-40B4-BE49-F238E27FC236}">
                    <a16:creationId xmlns="" xmlns:a16="http://schemas.microsoft.com/office/drawing/2014/main" id="{A7BB5838-40D9-5E5F-3EFA-494693DD37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33" y="3035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1" name="Line 26">
                <a:extLst>
                  <a:ext uri="{FF2B5EF4-FFF2-40B4-BE49-F238E27FC236}">
                    <a16:creationId xmlns="" xmlns:a16="http://schemas.microsoft.com/office/drawing/2014/main" id="{B99CCFD4-29C8-0693-51C8-491313BA4C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90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2" name="Line 27">
                <a:extLst>
                  <a:ext uri="{FF2B5EF4-FFF2-40B4-BE49-F238E27FC236}">
                    <a16:creationId xmlns="" xmlns:a16="http://schemas.microsoft.com/office/drawing/2014/main" id="{D5CD86CC-7979-4B9B-B43F-5FDCC00E32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" name="Line 28">
                <a:extLst>
                  <a:ext uri="{FF2B5EF4-FFF2-40B4-BE49-F238E27FC236}">
                    <a16:creationId xmlns="" xmlns:a16="http://schemas.microsoft.com/office/drawing/2014/main" id="{96E84535-C739-6FBB-0F49-78420195B3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7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4" name="Line 29">
                <a:extLst>
                  <a:ext uri="{FF2B5EF4-FFF2-40B4-BE49-F238E27FC236}">
                    <a16:creationId xmlns="" xmlns:a16="http://schemas.microsoft.com/office/drawing/2014/main" id="{7CBA5513-88A5-0E5D-82F3-B2243E8B64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22" y="3034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5" name="Rectangle 30">
                <a:extLst>
                  <a:ext uri="{FF2B5EF4-FFF2-40B4-BE49-F238E27FC236}">
                    <a16:creationId xmlns="" xmlns:a16="http://schemas.microsoft.com/office/drawing/2014/main" id="{2F38411C-3CD8-2D58-3A31-0E4429455C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8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106" name="Rectangle 31">
                <a:extLst>
                  <a:ext uri="{FF2B5EF4-FFF2-40B4-BE49-F238E27FC236}">
                    <a16:creationId xmlns="" xmlns:a16="http://schemas.microsoft.com/office/drawing/2014/main" id="{14B7CBF7-F128-0510-702D-47440FD86D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4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107" name="Rectangle 32">
                <a:extLst>
                  <a:ext uri="{FF2B5EF4-FFF2-40B4-BE49-F238E27FC236}">
                    <a16:creationId xmlns="" xmlns:a16="http://schemas.microsoft.com/office/drawing/2014/main" id="{BA779FDE-99EC-7454-02B1-31A4115695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0" y="3172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108" name="Rectangle 33">
                <a:extLst>
                  <a:ext uri="{FF2B5EF4-FFF2-40B4-BE49-F238E27FC236}">
                    <a16:creationId xmlns="" xmlns:a16="http://schemas.microsoft.com/office/drawing/2014/main" id="{2739D12C-063F-C2F8-2505-14363EBF5C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7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109" name="Rectangle 34">
                <a:extLst>
                  <a:ext uri="{FF2B5EF4-FFF2-40B4-BE49-F238E27FC236}">
                    <a16:creationId xmlns="" xmlns:a16="http://schemas.microsoft.com/office/drawing/2014/main" id="{5645574F-AC49-BF82-17AE-FCA1B112D0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93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2400"/>
              </a:p>
            </p:txBody>
          </p:sp>
        </p:grpSp>
        <p:grpSp>
          <p:nvGrpSpPr>
            <p:cNvPr id="16" name="Group 60">
              <a:extLst>
                <a:ext uri="{FF2B5EF4-FFF2-40B4-BE49-F238E27FC236}">
                  <a16:creationId xmlns="" xmlns:a16="http://schemas.microsoft.com/office/drawing/2014/main" id="{61F512FB-1971-EE83-B4D5-E03D804C330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06" y="2763"/>
              <a:ext cx="510" cy="661"/>
              <a:chOff x="4296" y="2627"/>
              <a:chExt cx="510" cy="661"/>
            </a:xfrm>
          </p:grpSpPr>
          <p:sp>
            <p:nvSpPr>
              <p:cNvPr id="80" name="Rectangle 61">
                <a:extLst>
                  <a:ext uri="{FF2B5EF4-FFF2-40B4-BE49-F238E27FC236}">
                    <a16:creationId xmlns="" xmlns:a16="http://schemas.microsoft.com/office/drawing/2014/main" id="{C318694B-D38E-6B51-47F6-C9048B0920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96" y="2652"/>
                <a:ext cx="510" cy="636"/>
              </a:xfrm>
              <a:prstGeom prst="rect">
                <a:avLst/>
              </a:prstGeom>
              <a:solidFill>
                <a:schemeClr val="hlink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81" name="Text Box 62">
                <a:extLst>
                  <a:ext uri="{FF2B5EF4-FFF2-40B4-BE49-F238E27FC236}">
                    <a16:creationId xmlns="" xmlns:a16="http://schemas.microsoft.com/office/drawing/2014/main" id="{1951C9F5-F580-7E97-1784-F71DF6190FB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04" y="2627"/>
                <a:ext cx="472" cy="3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0"/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0"/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0"/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0"/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sz="1600" dirty="0"/>
                  <a:t>mail</a:t>
                </a: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sz="1600" dirty="0"/>
                  <a:t>server</a:t>
                </a:r>
                <a:endParaRPr lang="en-US" sz="2400" dirty="0"/>
              </a:p>
            </p:txBody>
          </p:sp>
          <p:sp>
            <p:nvSpPr>
              <p:cNvPr id="82" name="Rectangle 63">
                <a:extLst>
                  <a:ext uri="{FF2B5EF4-FFF2-40B4-BE49-F238E27FC236}">
                    <a16:creationId xmlns="" xmlns:a16="http://schemas.microsoft.com/office/drawing/2014/main" id="{946E1B0B-7467-2027-6B0E-3CAAAD4E54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0" y="3006"/>
                <a:ext cx="450" cy="120"/>
              </a:xfrm>
              <a:prstGeom prst="rect">
                <a:avLst/>
              </a:prstGeom>
              <a:solidFill>
                <a:srgbClr val="00FF00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83" name="Line 64">
                <a:extLst>
                  <a:ext uri="{FF2B5EF4-FFF2-40B4-BE49-F238E27FC236}">
                    <a16:creationId xmlns="" xmlns:a16="http://schemas.microsoft.com/office/drawing/2014/main" id="{57EFEE6A-A2A8-9862-1867-3868892367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69" y="3034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4" name="Line 65">
                <a:extLst>
                  <a:ext uri="{FF2B5EF4-FFF2-40B4-BE49-F238E27FC236}">
                    <a16:creationId xmlns="" xmlns:a16="http://schemas.microsoft.com/office/drawing/2014/main" id="{3B59DC25-A772-D26E-AD64-A198216641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78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5" name="Line 66">
                <a:extLst>
                  <a:ext uri="{FF2B5EF4-FFF2-40B4-BE49-F238E27FC236}">
                    <a16:creationId xmlns="" xmlns:a16="http://schemas.microsoft.com/office/drawing/2014/main" id="{7E614ADB-14FD-D8E9-290D-96BDB03359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33" y="3035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6" name="Line 67">
                <a:extLst>
                  <a:ext uri="{FF2B5EF4-FFF2-40B4-BE49-F238E27FC236}">
                    <a16:creationId xmlns="" xmlns:a16="http://schemas.microsoft.com/office/drawing/2014/main" id="{09D7A7EB-6E76-7B12-851D-3EBD472992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90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7" name="Line 68">
                <a:extLst>
                  <a:ext uri="{FF2B5EF4-FFF2-40B4-BE49-F238E27FC236}">
                    <a16:creationId xmlns="" xmlns:a16="http://schemas.microsoft.com/office/drawing/2014/main" id="{D33B1202-EC98-4C80-E6FA-443890D3CE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8" name="Line 69">
                <a:extLst>
                  <a:ext uri="{FF2B5EF4-FFF2-40B4-BE49-F238E27FC236}">
                    <a16:creationId xmlns="" xmlns:a16="http://schemas.microsoft.com/office/drawing/2014/main" id="{3F6C6528-822F-702C-EB2A-799709EA3B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7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9" name="Line 70">
                <a:extLst>
                  <a:ext uri="{FF2B5EF4-FFF2-40B4-BE49-F238E27FC236}">
                    <a16:creationId xmlns="" xmlns:a16="http://schemas.microsoft.com/office/drawing/2014/main" id="{370E24BF-F81F-9E7D-EDD6-6AD6B1A57D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22" y="3034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0" name="Rectangle 71">
                <a:extLst>
                  <a:ext uri="{FF2B5EF4-FFF2-40B4-BE49-F238E27FC236}">
                    <a16:creationId xmlns="" xmlns:a16="http://schemas.microsoft.com/office/drawing/2014/main" id="{A3E7169C-E84F-B485-C1DD-646D681F7A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8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91" name="Rectangle 72">
                <a:extLst>
                  <a:ext uri="{FF2B5EF4-FFF2-40B4-BE49-F238E27FC236}">
                    <a16:creationId xmlns="" xmlns:a16="http://schemas.microsoft.com/office/drawing/2014/main" id="{37A0E91E-AAC4-6BA6-9138-E125470CA3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4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92" name="Rectangle 73">
                <a:extLst>
                  <a:ext uri="{FF2B5EF4-FFF2-40B4-BE49-F238E27FC236}">
                    <a16:creationId xmlns="" xmlns:a16="http://schemas.microsoft.com/office/drawing/2014/main" id="{668D419D-77BB-5926-DFCE-6C83F431D1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0" y="3172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93" name="Rectangle 74">
                <a:extLst>
                  <a:ext uri="{FF2B5EF4-FFF2-40B4-BE49-F238E27FC236}">
                    <a16:creationId xmlns="" xmlns:a16="http://schemas.microsoft.com/office/drawing/2014/main" id="{227B3C72-BA84-09CC-0B64-BAAF387152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7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94" name="Rectangle 75">
                <a:extLst>
                  <a:ext uri="{FF2B5EF4-FFF2-40B4-BE49-F238E27FC236}">
                    <a16:creationId xmlns="" xmlns:a16="http://schemas.microsoft.com/office/drawing/2014/main" id="{BF25E845-4134-AEA2-4D00-AF0AA4FDE4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93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2400"/>
              </a:p>
            </p:txBody>
          </p:sp>
        </p:grpSp>
        <p:grpSp>
          <p:nvGrpSpPr>
            <p:cNvPr id="17" name="Group 96">
              <a:extLst>
                <a:ext uri="{FF2B5EF4-FFF2-40B4-BE49-F238E27FC236}">
                  <a16:creationId xmlns="" xmlns:a16="http://schemas.microsoft.com/office/drawing/2014/main" id="{150F5DB0-849C-C6CD-0B71-354E1B24FDC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06" y="1347"/>
              <a:ext cx="510" cy="661"/>
              <a:chOff x="4296" y="2627"/>
              <a:chExt cx="510" cy="661"/>
            </a:xfrm>
          </p:grpSpPr>
          <p:sp>
            <p:nvSpPr>
              <p:cNvPr id="65" name="Rectangle 97">
                <a:extLst>
                  <a:ext uri="{FF2B5EF4-FFF2-40B4-BE49-F238E27FC236}">
                    <a16:creationId xmlns="" xmlns:a16="http://schemas.microsoft.com/office/drawing/2014/main" id="{2D8D45A6-C1D3-2A94-28E6-18F405588A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96" y="2652"/>
                <a:ext cx="510" cy="636"/>
              </a:xfrm>
              <a:prstGeom prst="rect">
                <a:avLst/>
              </a:prstGeom>
              <a:solidFill>
                <a:schemeClr val="hlink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66" name="Text Box 98">
                <a:extLst>
                  <a:ext uri="{FF2B5EF4-FFF2-40B4-BE49-F238E27FC236}">
                    <a16:creationId xmlns="" xmlns:a16="http://schemas.microsoft.com/office/drawing/2014/main" id="{527D0571-59D6-BD6B-A45B-81664422A73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04" y="2627"/>
                <a:ext cx="472" cy="3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0"/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0"/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0"/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0"/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sz="1600"/>
                  <a:t>mail</a:t>
                </a: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sz="1600"/>
                  <a:t>server</a:t>
                </a:r>
                <a:endParaRPr lang="en-US" sz="2400"/>
              </a:p>
            </p:txBody>
          </p:sp>
          <p:sp>
            <p:nvSpPr>
              <p:cNvPr id="67" name="Rectangle 99">
                <a:extLst>
                  <a:ext uri="{FF2B5EF4-FFF2-40B4-BE49-F238E27FC236}">
                    <a16:creationId xmlns="" xmlns:a16="http://schemas.microsoft.com/office/drawing/2014/main" id="{F305C749-6EF7-062F-7F20-CA7E122D94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0" y="3006"/>
                <a:ext cx="450" cy="120"/>
              </a:xfrm>
              <a:prstGeom prst="rect">
                <a:avLst/>
              </a:prstGeom>
              <a:solidFill>
                <a:srgbClr val="00FF00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68" name="Line 100">
                <a:extLst>
                  <a:ext uri="{FF2B5EF4-FFF2-40B4-BE49-F238E27FC236}">
                    <a16:creationId xmlns="" xmlns:a16="http://schemas.microsoft.com/office/drawing/2014/main" id="{E7079EE0-B83A-3495-CA2C-D5CFA88349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69" y="3034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9" name="Line 101">
                <a:extLst>
                  <a:ext uri="{FF2B5EF4-FFF2-40B4-BE49-F238E27FC236}">
                    <a16:creationId xmlns="" xmlns:a16="http://schemas.microsoft.com/office/drawing/2014/main" id="{DB415B16-5850-517C-BBCD-6AB95ABD85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78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0" name="Line 102">
                <a:extLst>
                  <a:ext uri="{FF2B5EF4-FFF2-40B4-BE49-F238E27FC236}">
                    <a16:creationId xmlns="" xmlns:a16="http://schemas.microsoft.com/office/drawing/2014/main" id="{5468B3AC-F2AB-9B86-1061-B687EB73B9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33" y="3035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1" name="Line 103">
                <a:extLst>
                  <a:ext uri="{FF2B5EF4-FFF2-40B4-BE49-F238E27FC236}">
                    <a16:creationId xmlns="" xmlns:a16="http://schemas.microsoft.com/office/drawing/2014/main" id="{0CD2DD2F-F61D-AD53-B200-39679A72AF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90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" name="Line 104">
                <a:extLst>
                  <a:ext uri="{FF2B5EF4-FFF2-40B4-BE49-F238E27FC236}">
                    <a16:creationId xmlns="" xmlns:a16="http://schemas.microsoft.com/office/drawing/2014/main" id="{4A26D210-1A01-A295-39E8-EE4ADFBCC4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3" name="Line 105">
                <a:extLst>
                  <a:ext uri="{FF2B5EF4-FFF2-40B4-BE49-F238E27FC236}">
                    <a16:creationId xmlns="" xmlns:a16="http://schemas.microsoft.com/office/drawing/2014/main" id="{CFAF6B7A-1970-F6F2-0F0B-16B61D7068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7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4" name="Line 106">
                <a:extLst>
                  <a:ext uri="{FF2B5EF4-FFF2-40B4-BE49-F238E27FC236}">
                    <a16:creationId xmlns="" xmlns:a16="http://schemas.microsoft.com/office/drawing/2014/main" id="{007005DF-2DF9-C984-98C4-515C200BA2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22" y="3034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5" name="Rectangle 107">
                <a:extLst>
                  <a:ext uri="{FF2B5EF4-FFF2-40B4-BE49-F238E27FC236}">
                    <a16:creationId xmlns="" xmlns:a16="http://schemas.microsoft.com/office/drawing/2014/main" id="{107AC2F5-85CB-FA24-E573-5B07433D49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8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76" name="Rectangle 108">
                <a:extLst>
                  <a:ext uri="{FF2B5EF4-FFF2-40B4-BE49-F238E27FC236}">
                    <a16:creationId xmlns="" xmlns:a16="http://schemas.microsoft.com/office/drawing/2014/main" id="{594D9B5D-932C-898C-5937-A9F9B7E481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4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77" name="Rectangle 109">
                <a:extLst>
                  <a:ext uri="{FF2B5EF4-FFF2-40B4-BE49-F238E27FC236}">
                    <a16:creationId xmlns="" xmlns:a16="http://schemas.microsoft.com/office/drawing/2014/main" id="{3BDCC34C-417E-1EF9-5B25-5CAB06B788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0" y="3172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78" name="Rectangle 110">
                <a:extLst>
                  <a:ext uri="{FF2B5EF4-FFF2-40B4-BE49-F238E27FC236}">
                    <a16:creationId xmlns="" xmlns:a16="http://schemas.microsoft.com/office/drawing/2014/main" id="{CA8EADB0-2C17-9D78-A037-D8FF0E4CA9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7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79" name="Rectangle 111">
                <a:extLst>
                  <a:ext uri="{FF2B5EF4-FFF2-40B4-BE49-F238E27FC236}">
                    <a16:creationId xmlns="" xmlns:a16="http://schemas.microsoft.com/office/drawing/2014/main" id="{827B61EC-D763-C0D0-E19C-46598EB27E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93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2400"/>
              </a:p>
            </p:txBody>
          </p:sp>
        </p:grpSp>
        <p:sp>
          <p:nvSpPr>
            <p:cNvPr id="18" name="Line 117">
              <a:extLst>
                <a:ext uri="{FF2B5EF4-FFF2-40B4-BE49-F238E27FC236}">
                  <a16:creationId xmlns="" xmlns:a16="http://schemas.microsoft.com/office/drawing/2014/main" id="{E86CCD94-3A93-D027-4290-3C5E8BCEF16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34" y="2350"/>
              <a:ext cx="708" cy="684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" name="Line 118">
              <a:extLst>
                <a:ext uri="{FF2B5EF4-FFF2-40B4-BE49-F238E27FC236}">
                  <a16:creationId xmlns="" xmlns:a16="http://schemas.microsoft.com/office/drawing/2014/main" id="{B1EED4DF-237A-F05A-BF3B-47E76D48F3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266" y="2020"/>
              <a:ext cx="0" cy="786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0" name="Group 119">
              <a:extLst>
                <a:ext uri="{FF2B5EF4-FFF2-40B4-BE49-F238E27FC236}">
                  <a16:creationId xmlns="" xmlns:a16="http://schemas.microsoft.com/office/drawing/2014/main" id="{438AA15A-6D37-7CA6-667B-BC100966A9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95" y="2535"/>
              <a:ext cx="650" cy="288"/>
              <a:chOff x="3745" y="2537"/>
              <a:chExt cx="650" cy="288"/>
            </a:xfrm>
          </p:grpSpPr>
          <p:sp>
            <p:nvSpPr>
              <p:cNvPr id="63" name="Rectangle 120">
                <a:extLst>
                  <a:ext uri="{FF2B5EF4-FFF2-40B4-BE49-F238E27FC236}">
                    <a16:creationId xmlns="" xmlns:a16="http://schemas.microsoft.com/office/drawing/2014/main" id="{E5890373-80DF-CBA6-F03F-56A3B7B96A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98" y="2580"/>
                <a:ext cx="540" cy="1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64" name="Text Box 121">
                <a:extLst>
                  <a:ext uri="{FF2B5EF4-FFF2-40B4-BE49-F238E27FC236}">
                    <a16:creationId xmlns="" xmlns:a16="http://schemas.microsoft.com/office/drawing/2014/main" id="{855F943B-5750-9213-0108-0EFA77C1DED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45" y="2537"/>
                <a:ext cx="65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0"/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0"/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0"/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0"/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sz="2400">
                    <a:solidFill>
                      <a:srgbClr val="CC0000"/>
                    </a:solidFill>
                  </a:rPr>
                  <a:t>SMTP</a:t>
                </a:r>
              </a:p>
            </p:txBody>
          </p:sp>
        </p:grpSp>
        <p:grpSp>
          <p:nvGrpSpPr>
            <p:cNvPr id="21" name="Group 122">
              <a:extLst>
                <a:ext uri="{FF2B5EF4-FFF2-40B4-BE49-F238E27FC236}">
                  <a16:creationId xmlns="" xmlns:a16="http://schemas.microsoft.com/office/drawing/2014/main" id="{679B5B4F-92AC-C3F5-B471-A7AE17CE4F5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1" y="1743"/>
              <a:ext cx="650" cy="288"/>
              <a:chOff x="3745" y="2537"/>
              <a:chExt cx="650" cy="288"/>
            </a:xfrm>
          </p:grpSpPr>
          <p:sp>
            <p:nvSpPr>
              <p:cNvPr id="61" name="Rectangle 123">
                <a:extLst>
                  <a:ext uri="{FF2B5EF4-FFF2-40B4-BE49-F238E27FC236}">
                    <a16:creationId xmlns="" xmlns:a16="http://schemas.microsoft.com/office/drawing/2014/main" id="{16F75259-9FD4-04E6-A38B-84B38F993B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98" y="2580"/>
                <a:ext cx="540" cy="1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62" name="Text Box 124">
                <a:extLst>
                  <a:ext uri="{FF2B5EF4-FFF2-40B4-BE49-F238E27FC236}">
                    <a16:creationId xmlns="" xmlns:a16="http://schemas.microsoft.com/office/drawing/2014/main" id="{C183F1C7-5662-4C41-1E17-76EAADA8269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45" y="2537"/>
                <a:ext cx="65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0"/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0"/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0"/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0"/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sz="2400">
                    <a:solidFill>
                      <a:srgbClr val="CC0000"/>
                    </a:solidFill>
                  </a:rPr>
                  <a:t>SMTP</a:t>
                </a:r>
              </a:p>
            </p:txBody>
          </p:sp>
        </p:grpSp>
        <p:grpSp>
          <p:nvGrpSpPr>
            <p:cNvPr id="22" name="Group 125">
              <a:extLst>
                <a:ext uri="{FF2B5EF4-FFF2-40B4-BE49-F238E27FC236}">
                  <a16:creationId xmlns="" xmlns:a16="http://schemas.microsoft.com/office/drawing/2014/main" id="{85087542-F5D1-D0C4-8F17-DF75A35F4B8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37" y="2193"/>
              <a:ext cx="650" cy="288"/>
              <a:chOff x="3745" y="2537"/>
              <a:chExt cx="650" cy="288"/>
            </a:xfrm>
          </p:grpSpPr>
          <p:sp>
            <p:nvSpPr>
              <p:cNvPr id="59" name="Rectangle 126">
                <a:extLst>
                  <a:ext uri="{FF2B5EF4-FFF2-40B4-BE49-F238E27FC236}">
                    <a16:creationId xmlns="" xmlns:a16="http://schemas.microsoft.com/office/drawing/2014/main" id="{21D6547F-73E2-E1FD-F8BA-74090E9F12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98" y="2580"/>
                <a:ext cx="540" cy="1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60" name="Text Box 127">
                <a:extLst>
                  <a:ext uri="{FF2B5EF4-FFF2-40B4-BE49-F238E27FC236}">
                    <a16:creationId xmlns="" xmlns:a16="http://schemas.microsoft.com/office/drawing/2014/main" id="{2BF056D3-823B-9508-8EA9-B6AA6DAC723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45" y="2537"/>
                <a:ext cx="65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0"/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0"/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0"/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0"/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sz="2400">
                    <a:solidFill>
                      <a:srgbClr val="CC0000"/>
                    </a:solidFill>
                  </a:rPr>
                  <a:t>SMTP</a:t>
                </a:r>
              </a:p>
            </p:txBody>
          </p:sp>
        </p:grpSp>
        <p:grpSp>
          <p:nvGrpSpPr>
            <p:cNvPr id="23" name="Group 423">
              <a:extLst>
                <a:ext uri="{FF2B5EF4-FFF2-40B4-BE49-F238E27FC236}">
                  <a16:creationId xmlns="" xmlns:a16="http://schemas.microsoft.com/office/drawing/2014/main" id="{18EB4CA2-83CC-CDDB-20E5-07245FD0140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87" y="886"/>
              <a:ext cx="575" cy="664"/>
              <a:chOff x="3574" y="550"/>
              <a:chExt cx="575" cy="664"/>
            </a:xfrm>
          </p:grpSpPr>
          <p:grpSp>
            <p:nvGrpSpPr>
              <p:cNvPr id="54" name="Group 353">
                <a:extLst>
                  <a:ext uri="{FF2B5EF4-FFF2-40B4-BE49-F238E27FC236}">
                    <a16:creationId xmlns="" xmlns:a16="http://schemas.microsoft.com/office/drawing/2014/main" id="{37A91CE3-63AB-E808-DD23-1D066FAF7DF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id="57" name="Picture 354" descr="desktop_computer_stylized_medium">
                  <a:extLst>
                    <a:ext uri="{FF2B5EF4-FFF2-40B4-BE49-F238E27FC236}">
                      <a16:creationId xmlns="" xmlns:a16="http://schemas.microsoft.com/office/drawing/2014/main" id="{415C9754-720E-2721-FDCE-CE6A4AEF21E0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58" name="Freeform 355">
                  <a:extLst>
                    <a:ext uri="{FF2B5EF4-FFF2-40B4-BE49-F238E27FC236}">
                      <a16:creationId xmlns="" xmlns:a16="http://schemas.microsoft.com/office/drawing/2014/main" id="{A56D1296-BE8D-2640-6183-1609A40A9D3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7497 w 356"/>
                    <a:gd name="T3" fmla="*/ 469 h 368"/>
                    <a:gd name="T4" fmla="*/ 8894 w 356"/>
                    <a:gd name="T5" fmla="*/ 9780 h 368"/>
                    <a:gd name="T6" fmla="*/ 1960 w 356"/>
                    <a:gd name="T7" fmla="*/ 12231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  <p:sp>
            <p:nvSpPr>
              <p:cNvPr id="55" name="Rectangle 115">
                <a:extLst>
                  <a:ext uri="{FF2B5EF4-FFF2-40B4-BE49-F238E27FC236}">
                    <a16:creationId xmlns="" xmlns:a16="http://schemas.microsoft.com/office/drawing/2014/main" id="{EA5FBB49-7203-86EB-7018-32A5BE3984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11" y="576"/>
                <a:ext cx="381" cy="330"/>
              </a:xfrm>
              <a:prstGeom prst="rect">
                <a:avLst/>
              </a:prstGeom>
              <a:solidFill>
                <a:schemeClr val="hlink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56" name="Text Box 116">
                <a:extLst>
                  <a:ext uri="{FF2B5EF4-FFF2-40B4-BE49-F238E27FC236}">
                    <a16:creationId xmlns="" xmlns:a16="http://schemas.microsoft.com/office/drawing/2014/main" id="{288FDAEB-5287-C89B-00F1-8A22D83082D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74" y="550"/>
                <a:ext cx="436" cy="3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0"/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0"/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0"/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0"/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sz="1600"/>
                  <a:t>user</a:t>
                </a: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sz="1600"/>
                  <a:t>agent</a:t>
                </a:r>
                <a:endParaRPr lang="en-US" sz="2400"/>
              </a:p>
            </p:txBody>
          </p:sp>
        </p:grpSp>
        <p:grpSp>
          <p:nvGrpSpPr>
            <p:cNvPr id="24" name="Group 424">
              <a:extLst>
                <a:ext uri="{FF2B5EF4-FFF2-40B4-BE49-F238E27FC236}">
                  <a16:creationId xmlns="" xmlns:a16="http://schemas.microsoft.com/office/drawing/2014/main" id="{C1C7D9A4-87E6-49FD-0160-B2A0457A290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70" y="1400"/>
              <a:ext cx="575" cy="664"/>
              <a:chOff x="3574" y="550"/>
              <a:chExt cx="575" cy="664"/>
            </a:xfrm>
          </p:grpSpPr>
          <p:grpSp>
            <p:nvGrpSpPr>
              <p:cNvPr id="49" name="Group 425">
                <a:extLst>
                  <a:ext uri="{FF2B5EF4-FFF2-40B4-BE49-F238E27FC236}">
                    <a16:creationId xmlns="" xmlns:a16="http://schemas.microsoft.com/office/drawing/2014/main" id="{700A351B-805F-CB8C-B245-61FE899061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id="52" name="Picture 426" descr="desktop_computer_stylized_medium">
                  <a:extLst>
                    <a:ext uri="{FF2B5EF4-FFF2-40B4-BE49-F238E27FC236}">
                      <a16:creationId xmlns="" xmlns:a16="http://schemas.microsoft.com/office/drawing/2014/main" id="{EF476CB5-F97E-75F0-E62C-39102E69DE1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53" name="Freeform 427">
                  <a:extLst>
                    <a:ext uri="{FF2B5EF4-FFF2-40B4-BE49-F238E27FC236}">
                      <a16:creationId xmlns="" xmlns:a16="http://schemas.microsoft.com/office/drawing/2014/main" id="{F7990349-EC2D-0534-88FF-CCA38604FBF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7497 w 356"/>
                    <a:gd name="T3" fmla="*/ 469 h 368"/>
                    <a:gd name="T4" fmla="*/ 8894 w 356"/>
                    <a:gd name="T5" fmla="*/ 9780 h 368"/>
                    <a:gd name="T6" fmla="*/ 1960 w 356"/>
                    <a:gd name="T7" fmla="*/ 12231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  <p:sp>
            <p:nvSpPr>
              <p:cNvPr id="50" name="Rectangle 115">
                <a:extLst>
                  <a:ext uri="{FF2B5EF4-FFF2-40B4-BE49-F238E27FC236}">
                    <a16:creationId xmlns="" xmlns:a16="http://schemas.microsoft.com/office/drawing/2014/main" id="{A7D2D027-0395-3AB8-A09B-77C84D3CA1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11" y="576"/>
                <a:ext cx="381" cy="330"/>
              </a:xfrm>
              <a:prstGeom prst="rect">
                <a:avLst/>
              </a:prstGeom>
              <a:solidFill>
                <a:schemeClr val="hlink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51" name="Text Box 116">
                <a:extLst>
                  <a:ext uri="{FF2B5EF4-FFF2-40B4-BE49-F238E27FC236}">
                    <a16:creationId xmlns="" xmlns:a16="http://schemas.microsoft.com/office/drawing/2014/main" id="{2F1F0710-DCCF-257B-A6B8-6D287A4E949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74" y="550"/>
                <a:ext cx="436" cy="3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0"/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0"/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0"/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0"/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sz="1600"/>
                  <a:t>user</a:t>
                </a: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sz="1600"/>
                  <a:t>agent</a:t>
                </a:r>
                <a:endParaRPr lang="en-US" sz="2400"/>
              </a:p>
            </p:txBody>
          </p:sp>
        </p:grpSp>
        <p:grpSp>
          <p:nvGrpSpPr>
            <p:cNvPr id="25" name="Group 430">
              <a:extLst>
                <a:ext uri="{FF2B5EF4-FFF2-40B4-BE49-F238E27FC236}">
                  <a16:creationId xmlns="" xmlns:a16="http://schemas.microsoft.com/office/drawing/2014/main" id="{628EEC49-3F35-149E-187A-CBEC4E77361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82" y="1880"/>
              <a:ext cx="575" cy="664"/>
              <a:chOff x="3574" y="550"/>
              <a:chExt cx="575" cy="664"/>
            </a:xfrm>
          </p:grpSpPr>
          <p:grpSp>
            <p:nvGrpSpPr>
              <p:cNvPr id="44" name="Group 431">
                <a:extLst>
                  <a:ext uri="{FF2B5EF4-FFF2-40B4-BE49-F238E27FC236}">
                    <a16:creationId xmlns="" xmlns:a16="http://schemas.microsoft.com/office/drawing/2014/main" id="{6ABA431F-F7D5-CAC3-BCEB-E2B3ABCA2D0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id="47" name="Picture 432" descr="desktop_computer_stylized_medium">
                  <a:extLst>
                    <a:ext uri="{FF2B5EF4-FFF2-40B4-BE49-F238E27FC236}">
                      <a16:creationId xmlns="" xmlns:a16="http://schemas.microsoft.com/office/drawing/2014/main" id="{6A09364F-BBAE-820B-DCD8-48F5E967ABA7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48" name="Freeform 433">
                  <a:extLst>
                    <a:ext uri="{FF2B5EF4-FFF2-40B4-BE49-F238E27FC236}">
                      <a16:creationId xmlns="" xmlns:a16="http://schemas.microsoft.com/office/drawing/2014/main" id="{7B981B01-3D89-47CB-67AC-F240B4B5F7C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7497 w 356"/>
                    <a:gd name="T3" fmla="*/ 469 h 368"/>
                    <a:gd name="T4" fmla="*/ 8894 w 356"/>
                    <a:gd name="T5" fmla="*/ 9780 h 368"/>
                    <a:gd name="T6" fmla="*/ 1960 w 356"/>
                    <a:gd name="T7" fmla="*/ 12231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  <p:sp>
            <p:nvSpPr>
              <p:cNvPr id="45" name="Rectangle 115">
                <a:extLst>
                  <a:ext uri="{FF2B5EF4-FFF2-40B4-BE49-F238E27FC236}">
                    <a16:creationId xmlns="" xmlns:a16="http://schemas.microsoft.com/office/drawing/2014/main" id="{A52FAE70-F521-ADAB-0542-D40F650BF5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11" y="576"/>
                <a:ext cx="381" cy="330"/>
              </a:xfrm>
              <a:prstGeom prst="rect">
                <a:avLst/>
              </a:prstGeom>
              <a:solidFill>
                <a:schemeClr val="hlink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46" name="Text Box 116">
                <a:extLst>
                  <a:ext uri="{FF2B5EF4-FFF2-40B4-BE49-F238E27FC236}">
                    <a16:creationId xmlns="" xmlns:a16="http://schemas.microsoft.com/office/drawing/2014/main" id="{3E229D03-0F22-FADA-927E-4853FF8DD1E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74" y="550"/>
                <a:ext cx="436" cy="3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0"/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0"/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0"/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0"/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sz="1600"/>
                  <a:t>user</a:t>
                </a: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sz="1600"/>
                  <a:t>agent</a:t>
                </a:r>
                <a:endParaRPr lang="en-US" sz="2400"/>
              </a:p>
            </p:txBody>
          </p:sp>
        </p:grpSp>
        <p:grpSp>
          <p:nvGrpSpPr>
            <p:cNvPr id="26" name="Group 436">
              <a:extLst>
                <a:ext uri="{FF2B5EF4-FFF2-40B4-BE49-F238E27FC236}">
                  <a16:creationId xmlns="" xmlns:a16="http://schemas.microsoft.com/office/drawing/2014/main" id="{697FF23E-4280-2F5A-802C-78850C302C6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99" y="2540"/>
              <a:ext cx="575" cy="664"/>
              <a:chOff x="3574" y="550"/>
              <a:chExt cx="575" cy="664"/>
            </a:xfrm>
          </p:grpSpPr>
          <p:grpSp>
            <p:nvGrpSpPr>
              <p:cNvPr id="39" name="Group 437">
                <a:extLst>
                  <a:ext uri="{FF2B5EF4-FFF2-40B4-BE49-F238E27FC236}">
                    <a16:creationId xmlns="" xmlns:a16="http://schemas.microsoft.com/office/drawing/2014/main" id="{C04D6034-D938-3CF5-7190-C4C3255E1DA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id="42" name="Picture 438" descr="desktop_computer_stylized_medium">
                  <a:extLst>
                    <a:ext uri="{FF2B5EF4-FFF2-40B4-BE49-F238E27FC236}">
                      <a16:creationId xmlns="" xmlns:a16="http://schemas.microsoft.com/office/drawing/2014/main" id="{A31821A5-8A18-F3FD-4F07-328281D82A0C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43" name="Freeform 439">
                  <a:extLst>
                    <a:ext uri="{FF2B5EF4-FFF2-40B4-BE49-F238E27FC236}">
                      <a16:creationId xmlns="" xmlns:a16="http://schemas.microsoft.com/office/drawing/2014/main" id="{D6BB66C3-D444-0F53-859E-B9D3CF526B8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7497 w 356"/>
                    <a:gd name="T3" fmla="*/ 469 h 368"/>
                    <a:gd name="T4" fmla="*/ 8894 w 356"/>
                    <a:gd name="T5" fmla="*/ 9780 h 368"/>
                    <a:gd name="T6" fmla="*/ 1960 w 356"/>
                    <a:gd name="T7" fmla="*/ 12231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  <p:sp>
            <p:nvSpPr>
              <p:cNvPr id="40" name="Rectangle 115">
                <a:extLst>
                  <a:ext uri="{FF2B5EF4-FFF2-40B4-BE49-F238E27FC236}">
                    <a16:creationId xmlns="" xmlns:a16="http://schemas.microsoft.com/office/drawing/2014/main" id="{239F1E6E-AF0F-C204-08A4-6E34E8895C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11" y="576"/>
                <a:ext cx="381" cy="330"/>
              </a:xfrm>
              <a:prstGeom prst="rect">
                <a:avLst/>
              </a:prstGeom>
              <a:solidFill>
                <a:schemeClr val="hlink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41" name="Text Box 116">
                <a:extLst>
                  <a:ext uri="{FF2B5EF4-FFF2-40B4-BE49-F238E27FC236}">
                    <a16:creationId xmlns="" xmlns:a16="http://schemas.microsoft.com/office/drawing/2014/main" id="{DD9507A7-EE06-695B-411B-311834D50E5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74" y="550"/>
                <a:ext cx="436" cy="3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0"/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0"/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0"/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0"/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sz="1600"/>
                  <a:t>user</a:t>
                </a: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sz="1600"/>
                  <a:t>agent</a:t>
                </a:r>
                <a:endParaRPr lang="en-US" sz="2400"/>
              </a:p>
            </p:txBody>
          </p:sp>
        </p:grpSp>
        <p:grpSp>
          <p:nvGrpSpPr>
            <p:cNvPr id="27" name="Group 442">
              <a:extLst>
                <a:ext uri="{FF2B5EF4-FFF2-40B4-BE49-F238E27FC236}">
                  <a16:creationId xmlns="" xmlns:a16="http://schemas.microsoft.com/office/drawing/2014/main" id="{C0B966F0-D526-62A2-021B-C5E72C3F5D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54" y="3446"/>
              <a:ext cx="575" cy="664"/>
              <a:chOff x="3574" y="550"/>
              <a:chExt cx="575" cy="664"/>
            </a:xfrm>
          </p:grpSpPr>
          <p:grpSp>
            <p:nvGrpSpPr>
              <p:cNvPr id="34" name="Group 443">
                <a:extLst>
                  <a:ext uri="{FF2B5EF4-FFF2-40B4-BE49-F238E27FC236}">
                    <a16:creationId xmlns="" xmlns:a16="http://schemas.microsoft.com/office/drawing/2014/main" id="{A90FE3FB-0188-7227-4D63-929EB5421A6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id="37" name="Picture 444" descr="desktop_computer_stylized_medium">
                  <a:extLst>
                    <a:ext uri="{FF2B5EF4-FFF2-40B4-BE49-F238E27FC236}">
                      <a16:creationId xmlns="" xmlns:a16="http://schemas.microsoft.com/office/drawing/2014/main" id="{2FD766EA-468C-5E4E-C785-5032367BCDD4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38" name="Freeform 445">
                  <a:extLst>
                    <a:ext uri="{FF2B5EF4-FFF2-40B4-BE49-F238E27FC236}">
                      <a16:creationId xmlns="" xmlns:a16="http://schemas.microsoft.com/office/drawing/2014/main" id="{C6B7AC15-1700-1F50-0535-7011DF3F16D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7497 w 356"/>
                    <a:gd name="T3" fmla="*/ 469 h 368"/>
                    <a:gd name="T4" fmla="*/ 8894 w 356"/>
                    <a:gd name="T5" fmla="*/ 9780 h 368"/>
                    <a:gd name="T6" fmla="*/ 1960 w 356"/>
                    <a:gd name="T7" fmla="*/ 12231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  <p:sp>
            <p:nvSpPr>
              <p:cNvPr id="35" name="Rectangle 115">
                <a:extLst>
                  <a:ext uri="{FF2B5EF4-FFF2-40B4-BE49-F238E27FC236}">
                    <a16:creationId xmlns="" xmlns:a16="http://schemas.microsoft.com/office/drawing/2014/main" id="{FCE1856E-161A-8D89-744E-DF9DC7924C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11" y="576"/>
                <a:ext cx="381" cy="330"/>
              </a:xfrm>
              <a:prstGeom prst="rect">
                <a:avLst/>
              </a:prstGeom>
              <a:solidFill>
                <a:schemeClr val="hlink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36" name="Text Box 116">
                <a:extLst>
                  <a:ext uri="{FF2B5EF4-FFF2-40B4-BE49-F238E27FC236}">
                    <a16:creationId xmlns="" xmlns:a16="http://schemas.microsoft.com/office/drawing/2014/main" id="{C42E0783-0FB2-5492-B602-A8B878DD52A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74" y="550"/>
                <a:ext cx="436" cy="3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0"/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0"/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0"/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0"/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sz="1600"/>
                  <a:t>user</a:t>
                </a: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sz="1600"/>
                  <a:t>agent</a:t>
                </a:r>
                <a:endParaRPr lang="en-US" sz="2400"/>
              </a:p>
            </p:txBody>
          </p:sp>
        </p:grpSp>
        <p:grpSp>
          <p:nvGrpSpPr>
            <p:cNvPr id="28" name="Group 448">
              <a:extLst>
                <a:ext uri="{FF2B5EF4-FFF2-40B4-BE49-F238E27FC236}">
                  <a16:creationId xmlns="" xmlns:a16="http://schemas.microsoft.com/office/drawing/2014/main" id="{6F9275F2-3EBA-6B20-888C-A3A09D318B5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13" y="3056"/>
              <a:ext cx="575" cy="664"/>
              <a:chOff x="3574" y="550"/>
              <a:chExt cx="575" cy="664"/>
            </a:xfrm>
          </p:grpSpPr>
          <p:grpSp>
            <p:nvGrpSpPr>
              <p:cNvPr id="29" name="Group 449">
                <a:extLst>
                  <a:ext uri="{FF2B5EF4-FFF2-40B4-BE49-F238E27FC236}">
                    <a16:creationId xmlns="" xmlns:a16="http://schemas.microsoft.com/office/drawing/2014/main" id="{65868F6F-260C-939C-FE94-38FBEE4AAF2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id="32" name="Picture 450" descr="desktop_computer_stylized_medium">
                  <a:extLst>
                    <a:ext uri="{FF2B5EF4-FFF2-40B4-BE49-F238E27FC236}">
                      <a16:creationId xmlns="" xmlns:a16="http://schemas.microsoft.com/office/drawing/2014/main" id="{65DE81AD-39BD-78A9-ACE7-D2F83AE2AAB7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33" name="Freeform 451">
                  <a:extLst>
                    <a:ext uri="{FF2B5EF4-FFF2-40B4-BE49-F238E27FC236}">
                      <a16:creationId xmlns="" xmlns:a16="http://schemas.microsoft.com/office/drawing/2014/main" id="{3946C14B-FE86-E8AE-9BB5-F5527C25FD8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7497 w 356"/>
                    <a:gd name="T3" fmla="*/ 469 h 368"/>
                    <a:gd name="T4" fmla="*/ 8894 w 356"/>
                    <a:gd name="T5" fmla="*/ 9780 h 368"/>
                    <a:gd name="T6" fmla="*/ 1960 w 356"/>
                    <a:gd name="T7" fmla="*/ 12231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  <p:sp>
            <p:nvSpPr>
              <p:cNvPr id="30" name="Rectangle 115">
                <a:extLst>
                  <a:ext uri="{FF2B5EF4-FFF2-40B4-BE49-F238E27FC236}">
                    <a16:creationId xmlns="" xmlns:a16="http://schemas.microsoft.com/office/drawing/2014/main" id="{3FD557B7-D225-7D7E-8365-8B965169FE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11" y="576"/>
                <a:ext cx="381" cy="330"/>
              </a:xfrm>
              <a:prstGeom prst="rect">
                <a:avLst/>
              </a:prstGeom>
              <a:solidFill>
                <a:schemeClr val="hlink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31" name="Text Box 116">
                <a:extLst>
                  <a:ext uri="{FF2B5EF4-FFF2-40B4-BE49-F238E27FC236}">
                    <a16:creationId xmlns="" xmlns:a16="http://schemas.microsoft.com/office/drawing/2014/main" id="{213FDF36-ACF7-CB38-4AB4-530A6E830CA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74" y="550"/>
                <a:ext cx="436" cy="3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0"/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0"/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0"/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0"/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sz="1600"/>
                  <a:t>user</a:t>
                </a: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sz="1600"/>
                  <a:t>agent</a:t>
                </a:r>
                <a:endParaRPr lang="en-US" sz="2400"/>
              </a:p>
            </p:txBody>
          </p:sp>
        </p:grpSp>
      </p:grpSp>
      <p:grpSp>
        <p:nvGrpSpPr>
          <p:cNvPr id="206" name="Group 279">
            <a:extLst>
              <a:ext uri="{FF2B5EF4-FFF2-40B4-BE49-F238E27FC236}">
                <a16:creationId xmlns="" xmlns:a16="http://schemas.microsoft.com/office/drawing/2014/main" id="{AE1FF2FD-B475-1805-D569-7011B92D43A6}"/>
              </a:ext>
            </a:extLst>
          </p:cNvPr>
          <p:cNvGrpSpPr>
            <a:grpSpLocks/>
          </p:cNvGrpSpPr>
          <p:nvPr/>
        </p:nvGrpSpPr>
        <p:grpSpPr bwMode="auto">
          <a:xfrm>
            <a:off x="9492164" y="605504"/>
            <a:ext cx="1736725" cy="955675"/>
            <a:chOff x="4458" y="3335"/>
            <a:chExt cx="1094" cy="602"/>
          </a:xfrm>
        </p:grpSpPr>
        <p:sp>
          <p:nvSpPr>
            <p:cNvPr id="207" name="Text Box 263">
              <a:extLst>
                <a:ext uri="{FF2B5EF4-FFF2-40B4-BE49-F238E27FC236}">
                  <a16:creationId xmlns="" xmlns:a16="http://schemas.microsoft.com/office/drawing/2014/main" id="{15833997-6D8C-D302-36FB-1D67167594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80" y="3725"/>
              <a:ext cx="84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0"/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0"/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0"/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0"/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600" dirty="0"/>
                <a:t>user mailbox</a:t>
              </a:r>
              <a:endParaRPr lang="en-US" sz="2400" dirty="0"/>
            </a:p>
          </p:txBody>
        </p:sp>
        <p:grpSp>
          <p:nvGrpSpPr>
            <p:cNvPr id="208" name="Group 278">
              <a:extLst>
                <a:ext uri="{FF2B5EF4-FFF2-40B4-BE49-F238E27FC236}">
                  <a16:creationId xmlns="" xmlns:a16="http://schemas.microsoft.com/office/drawing/2014/main" id="{7C79FBD4-E653-C759-2FBD-6BD80C7EED8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58" y="3408"/>
              <a:ext cx="450" cy="120"/>
              <a:chOff x="4314" y="3444"/>
              <a:chExt cx="450" cy="120"/>
            </a:xfrm>
          </p:grpSpPr>
          <p:sp>
            <p:nvSpPr>
              <p:cNvPr id="211" name="Rectangle 264">
                <a:extLst>
                  <a:ext uri="{FF2B5EF4-FFF2-40B4-BE49-F238E27FC236}">
                    <a16:creationId xmlns="" xmlns:a16="http://schemas.microsoft.com/office/drawing/2014/main" id="{68108B6B-BB40-C939-13F6-853CAB5AF1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14" y="3444"/>
                <a:ext cx="450" cy="120"/>
              </a:xfrm>
              <a:prstGeom prst="rect">
                <a:avLst/>
              </a:prstGeom>
              <a:solidFill>
                <a:srgbClr val="00FF00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212" name="Line 265">
                <a:extLst>
                  <a:ext uri="{FF2B5EF4-FFF2-40B4-BE49-F238E27FC236}">
                    <a16:creationId xmlns="" xmlns:a16="http://schemas.microsoft.com/office/drawing/2014/main" id="{3CA0D9E5-79C7-C1B8-ADDE-1FD1C35522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63" y="3472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3" name="Line 266">
                <a:extLst>
                  <a:ext uri="{FF2B5EF4-FFF2-40B4-BE49-F238E27FC236}">
                    <a16:creationId xmlns="" xmlns:a16="http://schemas.microsoft.com/office/drawing/2014/main" id="{C89ED773-29AB-2EFF-4B70-517D53DCB4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472" y="3471"/>
                <a:ext cx="6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4" name="Line 267">
                <a:extLst>
                  <a:ext uri="{FF2B5EF4-FFF2-40B4-BE49-F238E27FC236}">
                    <a16:creationId xmlns="" xmlns:a16="http://schemas.microsoft.com/office/drawing/2014/main" id="{B75559C2-C1E8-9B06-787F-DCF858E49D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27" y="347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5" name="Line 268">
                <a:extLst>
                  <a:ext uri="{FF2B5EF4-FFF2-40B4-BE49-F238E27FC236}">
                    <a16:creationId xmlns="" xmlns:a16="http://schemas.microsoft.com/office/drawing/2014/main" id="{EE594115-F735-0DA1-B34D-7E22533649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84" y="3471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6" name="Line 269">
                <a:extLst>
                  <a:ext uri="{FF2B5EF4-FFF2-40B4-BE49-F238E27FC236}">
                    <a16:creationId xmlns="" xmlns:a16="http://schemas.microsoft.com/office/drawing/2014/main" id="{8F7697CC-4980-C3EB-8C4F-CF51C3EE54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45" y="3471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7" name="Line 270">
                <a:extLst>
                  <a:ext uri="{FF2B5EF4-FFF2-40B4-BE49-F238E27FC236}">
                    <a16:creationId xmlns="" xmlns:a16="http://schemas.microsoft.com/office/drawing/2014/main" id="{67BA8733-EEF1-6F4B-49F2-4083A6A7FA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1" y="3471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8" name="Line 271">
                <a:extLst>
                  <a:ext uri="{FF2B5EF4-FFF2-40B4-BE49-F238E27FC236}">
                    <a16:creationId xmlns="" xmlns:a16="http://schemas.microsoft.com/office/drawing/2014/main" id="{F0D7FA08-5A67-33ED-704D-3CDBCA5C2E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3472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09" name="Rectangle 272">
              <a:extLst>
                <a:ext uri="{FF2B5EF4-FFF2-40B4-BE49-F238E27FC236}">
                  <a16:creationId xmlns="" xmlns:a16="http://schemas.microsoft.com/office/drawing/2014/main" id="{6CE508F8-2C80-C9BA-61E1-8914410040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2" y="3779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210" name="Text Box 277">
              <a:extLst>
                <a:ext uri="{FF2B5EF4-FFF2-40B4-BE49-F238E27FC236}">
                  <a16:creationId xmlns="" xmlns:a16="http://schemas.microsoft.com/office/drawing/2014/main" id="{202BC02B-C146-A5CB-36FF-6DCB01B93B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6" y="3335"/>
              <a:ext cx="1026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0"/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0"/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0"/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0"/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600" dirty="0"/>
                <a:t>outgoing </a:t>
              </a:r>
            </a:p>
            <a:p>
              <a:pPr algn="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600" dirty="0"/>
                <a:t>message queue</a:t>
              </a:r>
              <a:endParaRPr lang="en-US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3039013548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="" xmlns:a16="http://schemas.microsoft.com/office/drawing/2014/main" id="{D0A0C528-8CEF-30DE-4FC3-65AA20901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9217" y="1165226"/>
            <a:ext cx="7554351" cy="592138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Electronic mail: mail servers</a:t>
            </a:r>
            <a:endParaRPr lang="en-IN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="" xmlns:a16="http://schemas.microsoft.com/office/drawing/2014/main" id="{E6351464-1C18-BED2-053C-580328CD96D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048021" y="2140083"/>
            <a:ext cx="8095957" cy="3021989"/>
          </a:xfrm>
        </p:spPr>
        <p:txBody>
          <a:bodyPr>
            <a:normAutofit/>
          </a:bodyPr>
          <a:lstStyle/>
          <a:p>
            <a:pPr>
              <a:buFont typeface="Wingdings" charset="0"/>
              <a:buNone/>
            </a:pPr>
            <a:r>
              <a:rPr lang="en-US" dirty="0">
                <a:solidFill>
                  <a:srgbClr val="CC0000"/>
                </a:solidFill>
                <a:latin typeface="Gill Sans MT" charset="0"/>
              </a:rPr>
              <a:t>mail servers:</a:t>
            </a:r>
          </a:p>
          <a:p>
            <a:r>
              <a:rPr lang="en-US" sz="2400" i="1" dirty="0">
                <a:solidFill>
                  <a:srgbClr val="CC0000"/>
                </a:solidFill>
                <a:latin typeface="Gill Sans MT" charset="0"/>
              </a:rPr>
              <a:t>mailbox</a:t>
            </a:r>
            <a:r>
              <a:rPr lang="en-US" sz="2400" dirty="0">
                <a:latin typeface="Gill Sans MT" charset="0"/>
              </a:rPr>
              <a:t> contains incoming messages for user</a:t>
            </a:r>
          </a:p>
          <a:p>
            <a:r>
              <a:rPr lang="en-US" sz="2400" i="1" dirty="0">
                <a:solidFill>
                  <a:srgbClr val="CC0000"/>
                </a:solidFill>
                <a:latin typeface="Gill Sans MT" charset="0"/>
              </a:rPr>
              <a:t>message queue</a:t>
            </a:r>
            <a:r>
              <a:rPr lang="en-US" sz="2400" dirty="0">
                <a:latin typeface="Gill Sans MT" charset="0"/>
              </a:rPr>
              <a:t> of outgoing (to be sent) mail messages</a:t>
            </a:r>
          </a:p>
          <a:p>
            <a:r>
              <a:rPr lang="en-US" sz="2400" i="1" dirty="0">
                <a:solidFill>
                  <a:srgbClr val="CC0000"/>
                </a:solidFill>
                <a:latin typeface="Gill Sans MT" charset="0"/>
              </a:rPr>
              <a:t>SMTP protocol</a:t>
            </a:r>
            <a:r>
              <a:rPr lang="en-US" sz="2400" dirty="0">
                <a:latin typeface="Gill Sans MT" charset="0"/>
              </a:rPr>
              <a:t> between mail servers to send email messages</a:t>
            </a:r>
          </a:p>
          <a:p>
            <a:pPr lvl="1"/>
            <a:r>
              <a:rPr lang="en-US" dirty="0">
                <a:latin typeface="Gill Sans MT" charset="0"/>
              </a:rPr>
              <a:t>client: sending mail server</a:t>
            </a:r>
          </a:p>
          <a:p>
            <a:pPr lvl="1"/>
            <a:r>
              <a:rPr lang="ja-JP" altLang="en-US" dirty="0">
                <a:latin typeface="Gill Sans MT" charset="0"/>
              </a:rPr>
              <a:t>“</a:t>
            </a:r>
            <a:r>
              <a:rPr lang="en-US" altLang="ja-JP" dirty="0">
                <a:latin typeface="Gill Sans MT" charset="0"/>
              </a:rPr>
              <a:t>server</a:t>
            </a:r>
            <a:r>
              <a:rPr lang="ja-JP" altLang="en-US" dirty="0">
                <a:latin typeface="Gill Sans MT" charset="0"/>
              </a:rPr>
              <a:t>”</a:t>
            </a:r>
            <a:r>
              <a:rPr lang="en-US" altLang="ja-JP" dirty="0">
                <a:latin typeface="Gill Sans MT" charset="0"/>
              </a:rPr>
              <a:t>: receiving mail server</a:t>
            </a:r>
            <a:endParaRPr lang="en-US" dirty="0">
              <a:latin typeface="Gill Sans M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85574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="" xmlns:a16="http://schemas.microsoft.com/office/drawing/2014/main" id="{2EAC4E05-F004-CFDE-6B22-2D314A5B8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3113" y="1143544"/>
            <a:ext cx="7915275" cy="578772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Electronic Mail: SMTP [RFC 2821]</a:t>
            </a:r>
            <a:endParaRPr lang="en-IN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="" xmlns:a16="http://schemas.microsoft.com/office/drawing/2014/main" id="{0BA7AEDB-CA9B-3B1B-79E6-E4791C859C8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>
                <a:latin typeface="Gill Sans MT" charset="0"/>
              </a:rPr>
              <a:t>uses TCP to reliably transfer email message from client to server, port 25</a:t>
            </a:r>
          </a:p>
          <a:p>
            <a:r>
              <a:rPr lang="en-US" dirty="0">
                <a:latin typeface="Gill Sans MT" charset="0"/>
              </a:rPr>
              <a:t>direct transfer: sending server to receiving server</a:t>
            </a:r>
          </a:p>
          <a:p>
            <a:r>
              <a:rPr lang="en-US" dirty="0">
                <a:latin typeface="Gill Sans MT" charset="0"/>
              </a:rPr>
              <a:t>three phases of transfer</a:t>
            </a:r>
          </a:p>
          <a:p>
            <a:pPr lvl="1"/>
            <a:r>
              <a:rPr lang="en-US" dirty="0">
                <a:latin typeface="Gill Sans MT" charset="0"/>
              </a:rPr>
              <a:t>handshaking (greeting)</a:t>
            </a:r>
          </a:p>
          <a:p>
            <a:pPr lvl="1"/>
            <a:r>
              <a:rPr lang="en-US" dirty="0">
                <a:latin typeface="Gill Sans MT" charset="0"/>
              </a:rPr>
              <a:t>transfer of messages</a:t>
            </a:r>
          </a:p>
          <a:p>
            <a:pPr lvl="1"/>
            <a:r>
              <a:rPr lang="en-US" dirty="0">
                <a:latin typeface="Gill Sans MT" charset="0"/>
              </a:rPr>
              <a:t>closure</a:t>
            </a:r>
          </a:p>
          <a:p>
            <a:r>
              <a:rPr lang="en-US" dirty="0">
                <a:latin typeface="Gill Sans MT" charset="0"/>
              </a:rPr>
              <a:t>command/response interaction (like </a:t>
            </a:r>
            <a:r>
              <a:rPr lang="en-US" sz="2400" dirty="0">
                <a:latin typeface="Gill Sans MT" charset="0"/>
              </a:rPr>
              <a:t>HTTP, FTP</a:t>
            </a:r>
            <a:r>
              <a:rPr lang="en-US" dirty="0">
                <a:latin typeface="Gill Sans MT" charset="0"/>
              </a:rPr>
              <a:t>)</a:t>
            </a:r>
          </a:p>
          <a:p>
            <a:pPr marL="1090613" indent="-457200"/>
            <a:r>
              <a:rPr lang="en-US" dirty="0">
                <a:solidFill>
                  <a:srgbClr val="000099"/>
                </a:solidFill>
                <a:latin typeface="Gill Sans MT" charset="0"/>
              </a:rPr>
              <a:t>commands:</a:t>
            </a:r>
            <a:r>
              <a:rPr lang="en-US" dirty="0">
                <a:latin typeface="Gill Sans MT" charset="0"/>
              </a:rPr>
              <a:t> ASCII text</a:t>
            </a:r>
          </a:p>
          <a:p>
            <a:pPr marL="1090613" indent="-457200"/>
            <a:r>
              <a:rPr lang="en-US" dirty="0">
                <a:solidFill>
                  <a:srgbClr val="000099"/>
                </a:solidFill>
                <a:latin typeface="Gill Sans MT" charset="0"/>
              </a:rPr>
              <a:t>response:</a:t>
            </a:r>
            <a:r>
              <a:rPr lang="en-US" dirty="0">
                <a:latin typeface="Gill Sans MT" charset="0"/>
              </a:rPr>
              <a:t> status code and phrase</a:t>
            </a:r>
          </a:p>
          <a:p>
            <a:r>
              <a:rPr lang="en-US" dirty="0">
                <a:latin typeface="Gill Sans MT" charset="0"/>
              </a:rPr>
              <a:t>messages must be in 7-bit ASCI</a:t>
            </a:r>
            <a:endParaRPr lang="en-US" sz="3200" dirty="0">
              <a:latin typeface="Gill Sans MT" charset="0"/>
            </a:endParaRPr>
          </a:p>
          <a:p>
            <a:pPr lvl="1"/>
            <a:endParaRPr lang="en-US" sz="2000" dirty="0">
              <a:latin typeface="Gill Sans M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5005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CD2B447-6BD3-8F1E-B08F-FEE2926F8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7558" y="1143544"/>
            <a:ext cx="9097296" cy="608269"/>
          </a:xfrm>
        </p:spPr>
        <p:txBody>
          <a:bodyPr>
            <a:normAutofit/>
          </a:bodyPr>
          <a:lstStyle/>
          <a:p>
            <a:pPr algn="ctr"/>
            <a:r>
              <a:rPr lang="en-US" altLang="en-US" b="1" dirty="0">
                <a:solidFill>
                  <a:srgbClr val="C00000"/>
                </a:solidFill>
                <a:latin typeface="Times New Roman" panose="02020603050405020304" pitchFamily="18" charset="0"/>
              </a:rPr>
              <a:t>First </a:t>
            </a:r>
            <a:r>
              <a:rPr lang="en-US" altLang="en-US" sz="28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scenario</a:t>
            </a:r>
            <a:r>
              <a:rPr lang="en-US" altLang="en-US" b="1" dirty="0">
                <a:solidFill>
                  <a:srgbClr val="C00000"/>
                </a:solidFill>
                <a:latin typeface="Times New Roman" panose="02020603050405020304" pitchFamily="18" charset="0"/>
              </a:rPr>
              <a:t> in electronic mail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83919B31-4014-198C-79C2-19F61E323D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3029" y="2444358"/>
            <a:ext cx="3691921" cy="3056330"/>
          </a:xfrm>
        </p:spPr>
        <p:txBody>
          <a:bodyPr>
            <a:normAutofit/>
          </a:bodyPr>
          <a:lstStyle/>
          <a:p>
            <a:pPr algn="just"/>
            <a:r>
              <a:rPr lang="en-US" altLang="en-US" dirty="0"/>
              <a:t>When the sender and the receiver of an e-mail are on the same system, we need only two user agents.</a:t>
            </a:r>
          </a:p>
          <a:p>
            <a:endParaRPr lang="en-IN" dirty="0"/>
          </a:p>
        </p:txBody>
      </p:sp>
      <p:pic>
        <p:nvPicPr>
          <p:cNvPr id="5" name="Picture 6">
            <a:extLst>
              <a:ext uri="{FF2B5EF4-FFF2-40B4-BE49-F238E27FC236}">
                <a16:creationId xmlns="" xmlns:a16="http://schemas.microsoft.com/office/drawing/2014/main" id="{BC6FF476-AFA5-1DC0-AEAF-E6066F2BA8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7850" y="2393849"/>
            <a:ext cx="5916066" cy="304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653508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7BBC8E2-3AC8-295D-B718-150F5D90D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4166" y="1164477"/>
            <a:ext cx="9230032" cy="505030"/>
          </a:xfrm>
        </p:spPr>
        <p:txBody>
          <a:bodyPr>
            <a:normAutofit/>
          </a:bodyPr>
          <a:lstStyle/>
          <a:p>
            <a:pPr algn="ctr"/>
            <a:r>
              <a:rPr lang="en-US" altLang="en-US" sz="28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Second scenario in electronic mail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5C8D986-27CE-EC8B-2113-32136B96D6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31" y="2396918"/>
            <a:ext cx="5134959" cy="3214687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the sender and the receiver of an e-mail are on different systems, we need two UAs and a pair of  MTAs (client and server).</a:t>
            </a:r>
          </a:p>
          <a:p>
            <a:endParaRPr lang="en-IN" dirty="0"/>
          </a:p>
        </p:txBody>
      </p:sp>
      <p:pic>
        <p:nvPicPr>
          <p:cNvPr id="5" name="Picture 7">
            <a:extLst>
              <a:ext uri="{FF2B5EF4-FFF2-40B4-BE49-F238E27FC236}">
                <a16:creationId xmlns="" xmlns:a16="http://schemas.microsoft.com/office/drawing/2014/main" id="{9DFF19BB-9E27-0204-7CA8-7C016FA594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0957" y="2173575"/>
            <a:ext cx="5876145" cy="36913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01886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76B0F36-3F31-5659-BF29-67032B13F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4271" y="1209947"/>
            <a:ext cx="9259529" cy="54927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altLang="en-US" b="1" dirty="0">
                <a:solidFill>
                  <a:srgbClr val="C00000"/>
                </a:solidFill>
                <a:latin typeface="Times New Roman" panose="02020603050405020304" pitchFamily="18" charset="0"/>
              </a:rPr>
              <a:t>Third scenario in electronic mail</a:t>
            </a:r>
            <a:endParaRPr lang="en-IN" b="1" dirty="0">
              <a:solidFill>
                <a:srgbClr val="C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5FD2661-2FA7-CD9E-A3D8-1C4EEEB2E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50430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the sender is connected to the mail server via a LAN or a WAN, we need two UAs and two pairs of MTAs (client and server).</a:t>
            </a:r>
          </a:p>
          <a:p>
            <a:endParaRPr lang="en-IN" dirty="0"/>
          </a:p>
        </p:txBody>
      </p:sp>
      <p:pic>
        <p:nvPicPr>
          <p:cNvPr id="5" name="Picture 6">
            <a:extLst>
              <a:ext uri="{FF2B5EF4-FFF2-40B4-BE49-F238E27FC236}">
                <a16:creationId xmlns="" xmlns:a16="http://schemas.microsoft.com/office/drawing/2014/main" id="{4F0274EC-3A0C-957E-EA03-74D3D33145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957" y="3023661"/>
            <a:ext cx="8784235" cy="34842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46451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7700B54-3CA5-6500-0714-0E0D9B2F8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9475" y="1307178"/>
            <a:ext cx="9261988" cy="490281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 algn="ctr"/>
            <a:r>
              <a:rPr lang="en-US" altLang="en-US" b="1" dirty="0">
                <a:solidFill>
                  <a:srgbClr val="C00000"/>
                </a:solidFill>
                <a:latin typeface="Times New Roman" panose="02020603050405020304" pitchFamily="18" charset="0"/>
              </a:rPr>
              <a:t>Fourth </a:t>
            </a:r>
            <a:r>
              <a:rPr lang="en-US" altLang="en-US" sz="31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scenario</a:t>
            </a:r>
            <a:r>
              <a:rPr lang="en-US" altLang="en-US" b="1" dirty="0">
                <a:solidFill>
                  <a:srgbClr val="C00000"/>
                </a:solidFill>
                <a:latin typeface="Times New Roman" panose="02020603050405020304" pitchFamily="18" charset="0"/>
              </a:rPr>
              <a:t> in electronic mail</a:t>
            </a:r>
            <a:endParaRPr lang="en-IN" b="1" dirty="0">
              <a:solidFill>
                <a:srgbClr val="C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42546CC-746B-4668-9389-75B7EE2C17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381" y="1951036"/>
            <a:ext cx="5051937" cy="3794552"/>
          </a:xfrm>
        </p:spPr>
        <p:txBody>
          <a:bodyPr>
            <a:normAutofit/>
          </a:bodyPr>
          <a:lstStyle/>
          <a:p>
            <a:pPr algn="just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both sender and receiver are connected to the mail server via a LAN or a WAN, we need two UAs, two pairs of MTAs and a pair of MAAs.</a:t>
            </a:r>
          </a:p>
          <a:p>
            <a:pPr algn="just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the most common situation today</a:t>
            </a:r>
            <a:r>
              <a:rPr lang="en-US" alt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alt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6">
            <a:extLst>
              <a:ext uri="{FF2B5EF4-FFF2-40B4-BE49-F238E27FC236}">
                <a16:creationId xmlns="" xmlns:a16="http://schemas.microsoft.com/office/drawing/2014/main" id="{6969951A-AE28-CC9F-EF7D-E0D5D925C1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6302" y="1943803"/>
            <a:ext cx="6280878" cy="40372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263549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BFD4126-FF10-62DB-52D2-5E09481A0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0568" y="1218182"/>
            <a:ext cx="8918917" cy="477882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 algn="ctr"/>
            <a:r>
              <a:rPr lang="en-US" altLang="en-US" b="1" dirty="0">
                <a:solidFill>
                  <a:srgbClr val="C00000"/>
                </a:solidFill>
                <a:latin typeface="Times New Roman" panose="02020603050405020304" pitchFamily="18" charset="0"/>
              </a:rPr>
              <a:t>Push versus pull in electronic email</a:t>
            </a:r>
            <a:endParaRPr lang="en-IN" b="1" dirty="0">
              <a:solidFill>
                <a:srgbClr val="C0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4" name="Picture 6">
            <a:extLst>
              <a:ext uri="{FF2B5EF4-FFF2-40B4-BE49-F238E27FC236}">
                <a16:creationId xmlns="" xmlns:a16="http://schemas.microsoft.com/office/drawing/2014/main" id="{AFE42AE2-AB7E-8A49-5D03-DB9C449E40B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6258" y="2521974"/>
            <a:ext cx="7037171" cy="31696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883334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3F15DC6-2EE9-23A8-34F7-564BAD914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103" y="1213531"/>
            <a:ext cx="6157791" cy="464370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 algn="ctr"/>
            <a:r>
              <a:rPr lang="en-US" altLang="en-US" b="1" dirty="0">
                <a:solidFill>
                  <a:srgbClr val="C00000"/>
                </a:solidFill>
                <a:latin typeface="Times New Roman" panose="02020603050405020304" pitchFamily="18" charset="0"/>
              </a:rPr>
              <a:t>Services of user agent</a:t>
            </a:r>
            <a:endParaRPr lang="en-IN" b="1" dirty="0">
              <a:solidFill>
                <a:srgbClr val="C0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5" name="Picture 6">
            <a:extLst>
              <a:ext uri="{FF2B5EF4-FFF2-40B4-BE49-F238E27FC236}">
                <a16:creationId xmlns="" xmlns:a16="http://schemas.microsoft.com/office/drawing/2014/main" id="{246E021D-8BA7-5B0D-14CA-767B295A51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2918" y="2212258"/>
            <a:ext cx="8666163" cy="3775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561131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4922588-92DF-2952-57D0-A022BA610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7667" y="1229040"/>
            <a:ext cx="5502265" cy="497114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Mail message format</a:t>
            </a:r>
            <a:endParaRPr lang="en-IN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Rectangle 3">
            <a:extLst>
              <a:ext uri="{FF2B5EF4-FFF2-40B4-BE49-F238E27FC236}">
                <a16:creationId xmlns="" xmlns:a16="http://schemas.microsoft.com/office/drawing/2014/main" id="{C6AE00D5-5D0A-1650-4B31-655724C5F02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377386" y="2119672"/>
            <a:ext cx="5059671" cy="3852504"/>
          </a:xfrm>
        </p:spPr>
        <p:txBody>
          <a:bodyPr>
            <a:normAutofit fontScale="85000" lnSpcReduction="10000"/>
          </a:bodyPr>
          <a:lstStyle/>
          <a:p>
            <a:pPr>
              <a:buFont typeface="Wingdings" charset="0"/>
              <a:buNone/>
            </a:pPr>
            <a:r>
              <a:rPr lang="en-US" sz="2400" dirty="0">
                <a:latin typeface="Gill Sans MT" charset="0"/>
              </a:rPr>
              <a:t>SMTP: protocol for exchanging email </a:t>
            </a:r>
            <a:r>
              <a:rPr lang="en-US" sz="2400" dirty="0" err="1">
                <a:latin typeface="Gill Sans MT" charset="0"/>
              </a:rPr>
              <a:t>msgs</a:t>
            </a:r>
            <a:endParaRPr lang="en-US" sz="2400" dirty="0">
              <a:latin typeface="Gill Sans MT" charset="0"/>
            </a:endParaRPr>
          </a:p>
          <a:p>
            <a:pPr>
              <a:buFont typeface="Wingdings" charset="0"/>
              <a:buNone/>
            </a:pPr>
            <a:r>
              <a:rPr lang="en-US" sz="2400" dirty="0">
                <a:latin typeface="Gill Sans MT" charset="0"/>
              </a:rPr>
              <a:t>RFC 822: standard for text message format:</a:t>
            </a:r>
          </a:p>
          <a:p>
            <a:r>
              <a:rPr lang="en-US" sz="2400" dirty="0">
                <a:latin typeface="Gill Sans MT" charset="0"/>
              </a:rPr>
              <a:t>header lines, e.g.,</a:t>
            </a:r>
          </a:p>
          <a:p>
            <a:pPr lvl="1"/>
            <a:r>
              <a:rPr lang="en-US" sz="2000" dirty="0">
                <a:latin typeface="Gill Sans MT" charset="0"/>
              </a:rPr>
              <a:t>To:</a:t>
            </a:r>
          </a:p>
          <a:p>
            <a:pPr lvl="1"/>
            <a:r>
              <a:rPr lang="en-US" sz="2000" dirty="0">
                <a:latin typeface="Gill Sans MT" charset="0"/>
              </a:rPr>
              <a:t>From:</a:t>
            </a:r>
          </a:p>
          <a:p>
            <a:pPr lvl="1"/>
            <a:r>
              <a:rPr lang="en-US" sz="2000" dirty="0">
                <a:latin typeface="Gill Sans MT" charset="0"/>
              </a:rPr>
              <a:t>Subject:</a:t>
            </a:r>
          </a:p>
          <a:p>
            <a:pPr lvl="1">
              <a:buFont typeface="Wingdings" charset="0"/>
              <a:buNone/>
            </a:pPr>
            <a:r>
              <a:rPr lang="en-US" i="1" dirty="0">
                <a:solidFill>
                  <a:srgbClr val="FF0000"/>
                </a:solidFill>
                <a:latin typeface="Gill Sans MT" charset="0"/>
              </a:rPr>
              <a:t>different</a:t>
            </a:r>
            <a:r>
              <a:rPr lang="en-US" i="1" dirty="0">
                <a:solidFill>
                  <a:srgbClr val="66FFCC"/>
                </a:solidFill>
                <a:latin typeface="Gill Sans MT" charset="0"/>
              </a:rPr>
              <a:t> </a:t>
            </a:r>
            <a:r>
              <a:rPr lang="en-US" i="1" dirty="0">
                <a:latin typeface="Gill Sans MT" charset="0"/>
              </a:rPr>
              <a:t>from </a:t>
            </a:r>
            <a:r>
              <a:rPr lang="en-US" sz="2200" dirty="0">
                <a:latin typeface="Gill Sans MT" charset="0"/>
              </a:rPr>
              <a:t>SMTP MAIL FROM, RCPT TO:</a:t>
            </a:r>
            <a:r>
              <a:rPr lang="en-US" dirty="0">
                <a:latin typeface="Gill Sans MT" charset="0"/>
              </a:rPr>
              <a:t> commands!</a:t>
            </a:r>
          </a:p>
          <a:p>
            <a:r>
              <a:rPr lang="en-US" sz="2400" dirty="0">
                <a:latin typeface="Gill Sans MT" charset="0"/>
              </a:rPr>
              <a:t>Body: the </a:t>
            </a:r>
            <a:r>
              <a:rPr lang="ja-JP" altLang="en-US" sz="2400" dirty="0">
                <a:latin typeface="Gill Sans MT" charset="0"/>
              </a:rPr>
              <a:t>“</a:t>
            </a:r>
            <a:r>
              <a:rPr lang="en-US" altLang="ja-JP" sz="2400" dirty="0">
                <a:latin typeface="Gill Sans MT" charset="0"/>
              </a:rPr>
              <a:t>message</a:t>
            </a:r>
            <a:r>
              <a:rPr lang="ja-JP" altLang="en-US" sz="2400" dirty="0">
                <a:latin typeface="Gill Sans MT" charset="0"/>
              </a:rPr>
              <a:t>”</a:t>
            </a:r>
            <a:r>
              <a:rPr lang="en-US" altLang="ja-JP" sz="2400" dirty="0">
                <a:latin typeface="Gill Sans MT" charset="0"/>
              </a:rPr>
              <a:t> </a:t>
            </a:r>
          </a:p>
          <a:p>
            <a:pPr lvl="1"/>
            <a:r>
              <a:rPr lang="en-US" sz="2000" dirty="0">
                <a:latin typeface="Gill Sans MT" charset="0"/>
              </a:rPr>
              <a:t>ASCII characters only</a:t>
            </a:r>
          </a:p>
        </p:txBody>
      </p:sp>
      <p:sp>
        <p:nvSpPr>
          <p:cNvPr id="30" name="Rectangle 5">
            <a:extLst>
              <a:ext uri="{FF2B5EF4-FFF2-40B4-BE49-F238E27FC236}">
                <a16:creationId xmlns="" xmlns:a16="http://schemas.microsoft.com/office/drawing/2014/main" id="{9BA245D4-2089-5CA9-BA62-04078C99D1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0432" y="2951727"/>
            <a:ext cx="2832100" cy="431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sz="2400">
                <a:solidFill>
                  <a:schemeClr val="bg1"/>
                </a:solidFill>
              </a:rPr>
              <a:t>header</a:t>
            </a:r>
          </a:p>
        </p:txBody>
      </p:sp>
      <p:sp>
        <p:nvSpPr>
          <p:cNvPr id="31" name="Rectangle 7">
            <a:extLst>
              <a:ext uri="{FF2B5EF4-FFF2-40B4-BE49-F238E27FC236}">
                <a16:creationId xmlns="" xmlns:a16="http://schemas.microsoft.com/office/drawing/2014/main" id="{42F7DD95-B2E3-B626-0578-DF4E2654A8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0432" y="3652743"/>
            <a:ext cx="2832100" cy="17399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sz="2400" dirty="0">
                <a:solidFill>
                  <a:schemeClr val="bg1"/>
                </a:solidFill>
              </a:rPr>
              <a:t>body</a:t>
            </a:r>
          </a:p>
        </p:txBody>
      </p:sp>
      <p:sp>
        <p:nvSpPr>
          <p:cNvPr id="32" name="Rectangle 9">
            <a:extLst>
              <a:ext uri="{FF2B5EF4-FFF2-40B4-BE49-F238E27FC236}">
                <a16:creationId xmlns="" xmlns:a16="http://schemas.microsoft.com/office/drawing/2014/main" id="{1AB0B80F-930D-5898-6083-B367E7549B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67232" y="2380226"/>
            <a:ext cx="3238500" cy="3073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2400"/>
          </a:p>
        </p:txBody>
      </p:sp>
      <p:sp>
        <p:nvSpPr>
          <p:cNvPr id="33" name="Line 10">
            <a:extLst>
              <a:ext uri="{FF2B5EF4-FFF2-40B4-BE49-F238E27FC236}">
                <a16:creationId xmlns="" xmlns:a16="http://schemas.microsoft.com/office/drawing/2014/main" id="{9AFBC919-6906-4DAE-D8ED-E769F190BFD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29876" y="3217497"/>
            <a:ext cx="2140555" cy="435246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" name="Line 11">
            <a:extLst>
              <a:ext uri="{FF2B5EF4-FFF2-40B4-BE49-F238E27FC236}">
                <a16:creationId xmlns="" xmlns:a16="http://schemas.microsoft.com/office/drawing/2014/main" id="{22331FC4-B615-CB5A-9756-FD347F699F8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92922" y="3983872"/>
            <a:ext cx="1905000" cy="18796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" name="Text Box 13">
            <a:extLst>
              <a:ext uri="{FF2B5EF4-FFF2-40B4-BE49-F238E27FC236}">
                <a16:creationId xmlns="" xmlns:a16="http://schemas.microsoft.com/office/drawing/2014/main" id="{889B245B-89F6-3336-D556-E523BC5436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05732" y="2551617"/>
            <a:ext cx="190453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0"/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0"/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0"/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0"/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dirty="0" smtClean="0"/>
              <a:t>Blank line</a:t>
            </a:r>
            <a:endParaRPr lang="en-US" dirty="0"/>
          </a:p>
        </p:txBody>
      </p:sp>
      <p:sp>
        <p:nvSpPr>
          <p:cNvPr id="36" name="Line 14">
            <a:extLst>
              <a:ext uri="{FF2B5EF4-FFF2-40B4-BE49-F238E27FC236}">
                <a16:creationId xmlns="" xmlns:a16="http://schemas.microsoft.com/office/drawing/2014/main" id="{58066813-BBCE-2A23-CD8C-49DE28F6A71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119932" y="2751672"/>
            <a:ext cx="9652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9137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3742D16-FEB1-93CE-7AA5-3CEDF048D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4920" y="1207782"/>
            <a:ext cx="5469704" cy="51691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Mail access protocols</a:t>
            </a:r>
            <a:endParaRPr lang="en-IN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="" xmlns:a16="http://schemas.microsoft.com/office/drawing/2014/main" id="{7A0D8CC6-0ABC-47AE-2659-26C77677BF19}"/>
              </a:ext>
            </a:extLst>
          </p:cNvPr>
          <p:cNvSpPr txBox="1">
            <a:spLocks noChangeArrowheads="1"/>
          </p:cNvSpPr>
          <p:nvPr/>
        </p:nvSpPr>
        <p:spPr>
          <a:xfrm>
            <a:off x="1775593" y="3965941"/>
            <a:ext cx="7381875" cy="22098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rgbClr val="CC0000"/>
                </a:solidFill>
                <a:latin typeface="Gill Sans MT" charset="0"/>
              </a:rPr>
              <a:t>SMTP:</a:t>
            </a:r>
            <a:r>
              <a:rPr lang="en-US" sz="2400" dirty="0">
                <a:latin typeface="Gill Sans MT" charset="0"/>
              </a:rPr>
              <a:t> delivery/storage to receiver</a:t>
            </a:r>
            <a:r>
              <a:rPr lang="ja-JP" altLang="en-US" sz="2400" dirty="0">
                <a:latin typeface="Gill Sans MT" charset="0"/>
              </a:rPr>
              <a:t>’</a:t>
            </a:r>
            <a:r>
              <a:rPr lang="en-US" altLang="ja-JP" sz="2400" dirty="0">
                <a:latin typeface="Gill Sans MT" charset="0"/>
              </a:rPr>
              <a:t>s server</a:t>
            </a:r>
          </a:p>
          <a:p>
            <a:r>
              <a:rPr lang="en-US" sz="2400" dirty="0">
                <a:latin typeface="Gill Sans MT" charset="0"/>
              </a:rPr>
              <a:t>mail access protocol: retrieval from server</a:t>
            </a:r>
          </a:p>
          <a:p>
            <a:pPr lvl="1"/>
            <a:r>
              <a:rPr lang="en-US" sz="2200" dirty="0">
                <a:solidFill>
                  <a:srgbClr val="CC0000"/>
                </a:solidFill>
                <a:latin typeface="Gill Sans MT" charset="0"/>
              </a:rPr>
              <a:t>POP:</a:t>
            </a:r>
            <a:r>
              <a:rPr lang="en-US" sz="2200" dirty="0">
                <a:latin typeface="Gill Sans MT" charset="0"/>
              </a:rPr>
              <a:t> Post Office Protocol [RFC 1939]: authorization, download </a:t>
            </a:r>
          </a:p>
          <a:p>
            <a:pPr lvl="1"/>
            <a:r>
              <a:rPr lang="en-US" sz="2200" dirty="0">
                <a:solidFill>
                  <a:srgbClr val="CC0000"/>
                </a:solidFill>
                <a:latin typeface="Gill Sans MT" charset="0"/>
              </a:rPr>
              <a:t>IMAP:</a:t>
            </a:r>
            <a:r>
              <a:rPr lang="en-US" sz="2200" dirty="0">
                <a:latin typeface="Gill Sans MT" charset="0"/>
              </a:rPr>
              <a:t> Internet Mail Access Protocol [RFC 1730]: more features, including manipulation of stored </a:t>
            </a:r>
            <a:r>
              <a:rPr lang="en-US" sz="2200" dirty="0" err="1">
                <a:latin typeface="Gill Sans MT" charset="0"/>
              </a:rPr>
              <a:t>msgs</a:t>
            </a:r>
            <a:r>
              <a:rPr lang="en-US" sz="2200" dirty="0">
                <a:latin typeface="Gill Sans MT" charset="0"/>
              </a:rPr>
              <a:t> on server</a:t>
            </a:r>
          </a:p>
          <a:p>
            <a:pPr lvl="1"/>
            <a:r>
              <a:rPr lang="en-US" sz="2200" dirty="0">
                <a:solidFill>
                  <a:srgbClr val="CC0000"/>
                </a:solidFill>
                <a:latin typeface="Gill Sans MT" charset="0"/>
              </a:rPr>
              <a:t>HTTP:</a:t>
            </a:r>
            <a:r>
              <a:rPr lang="en-US" sz="2200" dirty="0">
                <a:latin typeface="Gill Sans MT" charset="0"/>
              </a:rPr>
              <a:t> </a:t>
            </a:r>
            <a:r>
              <a:rPr lang="en-US" sz="2200" dirty="0" err="1">
                <a:latin typeface="Gill Sans MT" charset="0"/>
              </a:rPr>
              <a:t>gmail</a:t>
            </a:r>
            <a:r>
              <a:rPr lang="en-US" sz="2200" dirty="0">
                <a:latin typeface="Gill Sans MT" charset="0"/>
              </a:rPr>
              <a:t>, Hotmail, Yahoo! Mail, etc.</a:t>
            </a:r>
          </a:p>
          <a:p>
            <a:pPr lvl="1"/>
            <a:endParaRPr lang="en-US" sz="2200" dirty="0">
              <a:latin typeface="Gill Sans MT" charset="0"/>
            </a:endParaRPr>
          </a:p>
        </p:txBody>
      </p:sp>
      <p:grpSp>
        <p:nvGrpSpPr>
          <p:cNvPr id="6" name="Group 133">
            <a:extLst>
              <a:ext uri="{FF2B5EF4-FFF2-40B4-BE49-F238E27FC236}">
                <a16:creationId xmlns="" xmlns:a16="http://schemas.microsoft.com/office/drawing/2014/main" id="{C896C3D9-3F7C-F81C-378F-B08D03EEC08B}"/>
              </a:ext>
            </a:extLst>
          </p:cNvPr>
          <p:cNvGrpSpPr>
            <a:grpSpLocks/>
          </p:cNvGrpSpPr>
          <p:nvPr/>
        </p:nvGrpSpPr>
        <p:grpSpPr bwMode="auto">
          <a:xfrm>
            <a:off x="4510856" y="2241653"/>
            <a:ext cx="511175" cy="693738"/>
            <a:chOff x="4140" y="429"/>
            <a:chExt cx="1425" cy="2396"/>
          </a:xfrm>
        </p:grpSpPr>
        <p:sp>
          <p:nvSpPr>
            <p:cNvPr id="7" name="Freeform 134">
              <a:extLst>
                <a:ext uri="{FF2B5EF4-FFF2-40B4-BE49-F238E27FC236}">
                  <a16:creationId xmlns="" xmlns:a16="http://schemas.microsoft.com/office/drawing/2014/main" id="{8292E718-58FF-D00C-0C87-DF1A646549E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6 w 354"/>
                <a:gd name="T1" fmla="*/ 0 h 2742"/>
                <a:gd name="T2" fmla="*/ 30 w 354"/>
                <a:gd name="T3" fmla="*/ 46 h 2742"/>
                <a:gd name="T4" fmla="*/ 30 w 354"/>
                <a:gd name="T5" fmla="*/ 354 h 2742"/>
                <a:gd name="T6" fmla="*/ 0 w 354"/>
                <a:gd name="T7" fmla="*/ 371 h 2742"/>
                <a:gd name="T8" fmla="*/ 6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Rectangle 135">
              <a:extLst>
                <a:ext uri="{FF2B5EF4-FFF2-40B4-BE49-F238E27FC236}">
                  <a16:creationId xmlns="" xmlns:a16="http://schemas.microsoft.com/office/drawing/2014/main" id="{78A44A6B-4759-13FE-73F8-E1BBAB5A1E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4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Freeform 136">
              <a:extLst>
                <a:ext uri="{FF2B5EF4-FFF2-40B4-BE49-F238E27FC236}">
                  <a16:creationId xmlns="" xmlns:a16="http://schemas.microsoft.com/office/drawing/2014/main" id="{3B0BF625-CE9E-4062-A732-4EE3AFF9130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8 w 211"/>
                <a:gd name="T3" fmla="*/ 30 h 2537"/>
                <a:gd name="T4" fmla="*/ 2 w 211"/>
                <a:gd name="T5" fmla="*/ 338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137">
              <a:extLst>
                <a:ext uri="{FF2B5EF4-FFF2-40B4-BE49-F238E27FC236}">
                  <a16:creationId xmlns="" xmlns:a16="http://schemas.microsoft.com/office/drawing/2014/main" id="{81FDCAC7-A891-9F75-B730-55F6672FD6A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8 h 226"/>
                <a:gd name="T4" fmla="*/ 29 w 328"/>
                <a:gd name="T5" fmla="*/ 32 h 226"/>
                <a:gd name="T6" fmla="*/ 0 w 328"/>
                <a:gd name="T7" fmla="*/ 1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Rectangle 138">
              <a:extLst>
                <a:ext uri="{FF2B5EF4-FFF2-40B4-BE49-F238E27FC236}">
                  <a16:creationId xmlns="" xmlns:a16="http://schemas.microsoft.com/office/drawing/2014/main" id="{BFD16432-A260-3423-4316-D425DC47B1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" y="692"/>
              <a:ext cx="597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2" name="Group 139">
              <a:extLst>
                <a:ext uri="{FF2B5EF4-FFF2-40B4-BE49-F238E27FC236}">
                  <a16:creationId xmlns="" xmlns:a16="http://schemas.microsoft.com/office/drawing/2014/main" id="{3755F319-2D9B-1C48-D9D6-80F26499EE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7" name="AutoShape 140">
                <a:extLst>
                  <a:ext uri="{FF2B5EF4-FFF2-40B4-BE49-F238E27FC236}">
                    <a16:creationId xmlns="" xmlns:a16="http://schemas.microsoft.com/office/drawing/2014/main" id="{B806E921-78BB-EB35-1C6C-4C0A4257E6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70"/>
                <a:ext cx="723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" name="AutoShape 141">
                <a:extLst>
                  <a:ext uri="{FF2B5EF4-FFF2-40B4-BE49-F238E27FC236}">
                    <a16:creationId xmlns="" xmlns:a16="http://schemas.microsoft.com/office/drawing/2014/main" id="{0F93EB1A-2174-6B2D-EB13-F386B3AF39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586"/>
                <a:ext cx="690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3" name="Rectangle 142">
              <a:extLst>
                <a:ext uri="{FF2B5EF4-FFF2-40B4-BE49-F238E27FC236}">
                  <a16:creationId xmlns="" xmlns:a16="http://schemas.microsoft.com/office/drawing/2014/main" id="{D871AE9E-CE9F-142A-1D6C-11FA5140AA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21"/>
              <a:ext cx="597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4" name="Group 143">
              <a:extLst>
                <a:ext uri="{FF2B5EF4-FFF2-40B4-BE49-F238E27FC236}">
                  <a16:creationId xmlns="" xmlns:a16="http://schemas.microsoft.com/office/drawing/2014/main" id="{C8798FFB-AAC3-7A54-75A5-5D130B77D6A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5" name="AutoShape 144">
                <a:extLst>
                  <a:ext uri="{FF2B5EF4-FFF2-40B4-BE49-F238E27FC236}">
                    <a16:creationId xmlns="" xmlns:a16="http://schemas.microsoft.com/office/drawing/2014/main" id="{6BE348ED-7047-D9E1-2AA5-740326451B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18" cy="13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6" name="AutoShape 145">
                <a:extLst>
                  <a:ext uri="{FF2B5EF4-FFF2-40B4-BE49-F238E27FC236}">
                    <a16:creationId xmlns="" xmlns:a16="http://schemas.microsoft.com/office/drawing/2014/main" id="{41EA806E-8D78-B03A-A2AD-9B6A76DFB7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0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5" name="Rectangle 146">
              <a:extLst>
                <a:ext uri="{FF2B5EF4-FFF2-40B4-BE49-F238E27FC236}">
                  <a16:creationId xmlns="" xmlns:a16="http://schemas.microsoft.com/office/drawing/2014/main" id="{E8243734-3CCF-27F4-DE73-F070969EBB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56"/>
              <a:ext cx="597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Rectangle 147">
              <a:extLst>
                <a:ext uri="{FF2B5EF4-FFF2-40B4-BE49-F238E27FC236}">
                  <a16:creationId xmlns="" xmlns:a16="http://schemas.microsoft.com/office/drawing/2014/main" id="{5A38848F-87B2-8C4E-7EF7-5399EE9404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9" y="1657"/>
              <a:ext cx="597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7" name="Group 148">
              <a:extLst>
                <a:ext uri="{FF2B5EF4-FFF2-40B4-BE49-F238E27FC236}">
                  <a16:creationId xmlns="" xmlns:a16="http://schemas.microsoft.com/office/drawing/2014/main" id="{91F9C68A-BC38-323A-2D9F-B0E9E70A672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3" name="AutoShape 149">
                <a:extLst>
                  <a:ext uri="{FF2B5EF4-FFF2-40B4-BE49-F238E27FC236}">
                    <a16:creationId xmlns="" xmlns:a16="http://schemas.microsoft.com/office/drawing/2014/main" id="{1BC90E85-8DE8-5D8F-22CE-B60B7D6FCC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81"/>
                <a:ext cx="728" cy="126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" name="AutoShape 150">
                <a:extLst>
                  <a:ext uri="{FF2B5EF4-FFF2-40B4-BE49-F238E27FC236}">
                    <a16:creationId xmlns="" xmlns:a16="http://schemas.microsoft.com/office/drawing/2014/main" id="{E584C860-FDA0-48CB-3802-F8D0C66EC7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6"/>
                <a:ext cx="695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8" name="Freeform 151">
              <a:extLst>
                <a:ext uri="{FF2B5EF4-FFF2-40B4-BE49-F238E27FC236}">
                  <a16:creationId xmlns="" xmlns:a16="http://schemas.microsoft.com/office/drawing/2014/main" id="{62994077-CAA3-54F8-6D0B-39FAD61BF29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7 h 226"/>
                <a:gd name="T4" fmla="*/ 29 w 328"/>
                <a:gd name="T5" fmla="*/ 30 h 226"/>
                <a:gd name="T6" fmla="*/ 0 w 328"/>
                <a:gd name="T7" fmla="*/ 1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9" name="Group 152">
              <a:extLst>
                <a:ext uri="{FF2B5EF4-FFF2-40B4-BE49-F238E27FC236}">
                  <a16:creationId xmlns="" xmlns:a16="http://schemas.microsoft.com/office/drawing/2014/main" id="{13F213D2-6D92-F80F-7740-351667A7D2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1" name="AutoShape 153">
                <a:extLst>
                  <a:ext uri="{FF2B5EF4-FFF2-40B4-BE49-F238E27FC236}">
                    <a16:creationId xmlns="" xmlns:a16="http://schemas.microsoft.com/office/drawing/2014/main" id="{D3544724-B804-5074-8F14-80869A7D40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9"/>
                <a:ext cx="728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" name="AutoShape 154">
                <a:extLst>
                  <a:ext uri="{FF2B5EF4-FFF2-40B4-BE49-F238E27FC236}">
                    <a16:creationId xmlns="" xmlns:a16="http://schemas.microsoft.com/office/drawing/2014/main" id="{AADBAC3C-96CC-B477-CD69-EC573937B9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6"/>
                <a:ext cx="695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0" name="Rectangle 155">
              <a:extLst>
                <a:ext uri="{FF2B5EF4-FFF2-40B4-BE49-F238E27FC236}">
                  <a16:creationId xmlns="" xmlns:a16="http://schemas.microsoft.com/office/drawing/2014/main" id="{44D326BC-B4CA-2FF9-F8B1-2CABE416DE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1" y="429"/>
              <a:ext cx="66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" name="Freeform 156">
              <a:extLst>
                <a:ext uri="{FF2B5EF4-FFF2-40B4-BE49-F238E27FC236}">
                  <a16:creationId xmlns="" xmlns:a16="http://schemas.microsoft.com/office/drawing/2014/main" id="{577220FD-1D29-F484-3D7D-B5B90977072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6 w 296"/>
                <a:gd name="T3" fmla="*/ 18 h 256"/>
                <a:gd name="T4" fmla="*/ 26 w 296"/>
                <a:gd name="T5" fmla="*/ 34 h 256"/>
                <a:gd name="T6" fmla="*/ 0 w 296"/>
                <a:gd name="T7" fmla="*/ 1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57">
              <a:extLst>
                <a:ext uri="{FF2B5EF4-FFF2-40B4-BE49-F238E27FC236}">
                  <a16:creationId xmlns="" xmlns:a16="http://schemas.microsoft.com/office/drawing/2014/main" id="{57EC099A-39E6-766D-ECE0-B02E2E1FAAD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7 w 304"/>
                <a:gd name="T3" fmla="*/ 23 h 288"/>
                <a:gd name="T4" fmla="*/ 25 w 304"/>
                <a:gd name="T5" fmla="*/ 39 h 288"/>
                <a:gd name="T6" fmla="*/ 2 w 304"/>
                <a:gd name="T7" fmla="*/ 17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Oval 158">
              <a:extLst>
                <a:ext uri="{FF2B5EF4-FFF2-40B4-BE49-F238E27FC236}">
                  <a16:creationId xmlns="" xmlns:a16="http://schemas.microsoft.com/office/drawing/2014/main" id="{8BBE5742-D331-432D-3F91-5020B3F470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1"/>
              <a:ext cx="49" cy="93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" name="Freeform 159">
              <a:extLst>
                <a:ext uri="{FF2B5EF4-FFF2-40B4-BE49-F238E27FC236}">
                  <a16:creationId xmlns="" xmlns:a16="http://schemas.microsoft.com/office/drawing/2014/main" id="{C1D8AB92-2E7D-0732-BA5F-272A97491C2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5 h 240"/>
                <a:gd name="T2" fmla="*/ 2 w 306"/>
                <a:gd name="T3" fmla="*/ 33 h 240"/>
                <a:gd name="T4" fmla="*/ 27 w 306"/>
                <a:gd name="T5" fmla="*/ 15 h 240"/>
                <a:gd name="T6" fmla="*/ 26 w 306"/>
                <a:gd name="T7" fmla="*/ 0 h 240"/>
                <a:gd name="T8" fmla="*/ 0 w 306"/>
                <a:gd name="T9" fmla="*/ 15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AutoShape 160">
              <a:extLst>
                <a:ext uri="{FF2B5EF4-FFF2-40B4-BE49-F238E27FC236}">
                  <a16:creationId xmlns="" xmlns:a16="http://schemas.microsoft.com/office/drawing/2014/main" id="{1940EE78-3357-E062-FD7D-D7EDC0C13E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" name="AutoShape 161">
              <a:extLst>
                <a:ext uri="{FF2B5EF4-FFF2-40B4-BE49-F238E27FC236}">
                  <a16:creationId xmlns="" xmlns:a16="http://schemas.microsoft.com/office/drawing/2014/main" id="{3E06CB45-2333-52B0-C004-6982EF11EE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0"/>
              <a:ext cx="1071" cy="8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" name="Oval 162">
              <a:extLst>
                <a:ext uri="{FF2B5EF4-FFF2-40B4-BE49-F238E27FC236}">
                  <a16:creationId xmlns="" xmlns:a16="http://schemas.microsoft.com/office/drawing/2014/main" id="{66E65262-6AF5-5056-25E7-0B82C3C298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" name="Oval 163">
              <a:extLst>
                <a:ext uri="{FF2B5EF4-FFF2-40B4-BE49-F238E27FC236}">
                  <a16:creationId xmlns="" xmlns:a16="http://schemas.microsoft.com/office/drawing/2014/main" id="{10C72EA8-13E7-A399-F2EF-AF8D703D6B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5" y="2386"/>
              <a:ext cx="159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sz="1800">
                <a:solidFill>
                  <a:srgbClr val="FF0000"/>
                </a:solidFill>
                <a:cs typeface="Arial" charset="0"/>
              </a:endParaRPr>
            </a:p>
          </p:txBody>
        </p:sp>
        <p:sp>
          <p:nvSpPr>
            <p:cNvPr id="29" name="Oval 164">
              <a:extLst>
                <a:ext uri="{FF2B5EF4-FFF2-40B4-BE49-F238E27FC236}">
                  <a16:creationId xmlns="" xmlns:a16="http://schemas.microsoft.com/office/drawing/2014/main" id="{47CCF239-BBF6-BAB1-56D3-33DC509035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2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" name="Rectangle 165">
              <a:extLst>
                <a:ext uri="{FF2B5EF4-FFF2-40B4-BE49-F238E27FC236}">
                  <a16:creationId xmlns="" xmlns:a16="http://schemas.microsoft.com/office/drawing/2014/main" id="{8FA453C2-A0D9-A632-A218-2608FAA02C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0" y="1833"/>
              <a:ext cx="89" cy="762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9" name="Group 100">
            <a:extLst>
              <a:ext uri="{FF2B5EF4-FFF2-40B4-BE49-F238E27FC236}">
                <a16:creationId xmlns="" xmlns:a16="http://schemas.microsoft.com/office/drawing/2014/main" id="{531DE146-D00F-8496-8CB8-B014751F90C4}"/>
              </a:ext>
            </a:extLst>
          </p:cNvPr>
          <p:cNvGrpSpPr>
            <a:grpSpLocks/>
          </p:cNvGrpSpPr>
          <p:nvPr/>
        </p:nvGrpSpPr>
        <p:grpSpPr bwMode="auto">
          <a:xfrm>
            <a:off x="6196781" y="2251178"/>
            <a:ext cx="511175" cy="693738"/>
            <a:chOff x="4140" y="429"/>
            <a:chExt cx="1425" cy="2396"/>
          </a:xfrm>
        </p:grpSpPr>
        <p:sp>
          <p:nvSpPr>
            <p:cNvPr id="40" name="Freeform 101">
              <a:extLst>
                <a:ext uri="{FF2B5EF4-FFF2-40B4-BE49-F238E27FC236}">
                  <a16:creationId xmlns="" xmlns:a16="http://schemas.microsoft.com/office/drawing/2014/main" id="{41FA1376-9896-5A8B-6462-A1201D83E06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6 w 354"/>
                <a:gd name="T1" fmla="*/ 0 h 2742"/>
                <a:gd name="T2" fmla="*/ 30 w 354"/>
                <a:gd name="T3" fmla="*/ 46 h 2742"/>
                <a:gd name="T4" fmla="*/ 30 w 354"/>
                <a:gd name="T5" fmla="*/ 354 h 2742"/>
                <a:gd name="T6" fmla="*/ 0 w 354"/>
                <a:gd name="T7" fmla="*/ 371 h 2742"/>
                <a:gd name="T8" fmla="*/ 6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Rectangle 102">
              <a:extLst>
                <a:ext uri="{FF2B5EF4-FFF2-40B4-BE49-F238E27FC236}">
                  <a16:creationId xmlns="" xmlns:a16="http://schemas.microsoft.com/office/drawing/2014/main" id="{96A74783-7AB6-DCCC-AAAE-9B8F5D7933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4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" name="Freeform 103">
              <a:extLst>
                <a:ext uri="{FF2B5EF4-FFF2-40B4-BE49-F238E27FC236}">
                  <a16:creationId xmlns="" xmlns:a16="http://schemas.microsoft.com/office/drawing/2014/main" id="{3F6ED5ED-48EC-DA25-3E3B-A0DD5391240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8 w 211"/>
                <a:gd name="T3" fmla="*/ 30 h 2537"/>
                <a:gd name="T4" fmla="*/ 2 w 211"/>
                <a:gd name="T5" fmla="*/ 338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104">
              <a:extLst>
                <a:ext uri="{FF2B5EF4-FFF2-40B4-BE49-F238E27FC236}">
                  <a16:creationId xmlns="" xmlns:a16="http://schemas.microsoft.com/office/drawing/2014/main" id="{654B16CF-82EC-8059-E7E7-09B279B79E0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8 h 226"/>
                <a:gd name="T4" fmla="*/ 29 w 328"/>
                <a:gd name="T5" fmla="*/ 32 h 226"/>
                <a:gd name="T6" fmla="*/ 0 w 328"/>
                <a:gd name="T7" fmla="*/ 1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Rectangle 105">
              <a:extLst>
                <a:ext uri="{FF2B5EF4-FFF2-40B4-BE49-F238E27FC236}">
                  <a16:creationId xmlns="" xmlns:a16="http://schemas.microsoft.com/office/drawing/2014/main" id="{7BAE2324-3B49-911B-1EF0-3DFD88199D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" y="692"/>
              <a:ext cx="597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45" name="Group 106">
              <a:extLst>
                <a:ext uri="{FF2B5EF4-FFF2-40B4-BE49-F238E27FC236}">
                  <a16:creationId xmlns="" xmlns:a16="http://schemas.microsoft.com/office/drawing/2014/main" id="{588963F3-BADA-B8AF-2770-6124BEDD1E5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70" name="AutoShape 107">
                <a:extLst>
                  <a:ext uri="{FF2B5EF4-FFF2-40B4-BE49-F238E27FC236}">
                    <a16:creationId xmlns="" xmlns:a16="http://schemas.microsoft.com/office/drawing/2014/main" id="{B750097F-20D7-C6F8-8826-CD61FF7CD4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70"/>
                <a:ext cx="723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1" name="AutoShape 108">
                <a:extLst>
                  <a:ext uri="{FF2B5EF4-FFF2-40B4-BE49-F238E27FC236}">
                    <a16:creationId xmlns="" xmlns:a16="http://schemas.microsoft.com/office/drawing/2014/main" id="{B08F47AD-021B-7ABC-F697-E5C837F53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586"/>
                <a:ext cx="690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46" name="Rectangle 109">
              <a:extLst>
                <a:ext uri="{FF2B5EF4-FFF2-40B4-BE49-F238E27FC236}">
                  <a16:creationId xmlns="" xmlns:a16="http://schemas.microsoft.com/office/drawing/2014/main" id="{7916E57B-6032-A7F4-E805-FDCBB910CC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21"/>
              <a:ext cx="597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47" name="Group 110">
              <a:extLst>
                <a:ext uri="{FF2B5EF4-FFF2-40B4-BE49-F238E27FC236}">
                  <a16:creationId xmlns="" xmlns:a16="http://schemas.microsoft.com/office/drawing/2014/main" id="{95835E90-22B4-A1EB-042E-4E01648932B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68" name="AutoShape 111">
                <a:extLst>
                  <a:ext uri="{FF2B5EF4-FFF2-40B4-BE49-F238E27FC236}">
                    <a16:creationId xmlns="" xmlns:a16="http://schemas.microsoft.com/office/drawing/2014/main" id="{2D5BEADB-7928-39ED-A407-C78B6675C4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18" cy="13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9" name="AutoShape 112">
                <a:extLst>
                  <a:ext uri="{FF2B5EF4-FFF2-40B4-BE49-F238E27FC236}">
                    <a16:creationId xmlns="" xmlns:a16="http://schemas.microsoft.com/office/drawing/2014/main" id="{288911CF-FA89-6F1F-59B5-300266A246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0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48" name="Rectangle 113">
              <a:extLst>
                <a:ext uri="{FF2B5EF4-FFF2-40B4-BE49-F238E27FC236}">
                  <a16:creationId xmlns="" xmlns:a16="http://schemas.microsoft.com/office/drawing/2014/main" id="{BF14DE71-471D-98DB-90B6-F9DEC7161B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56"/>
              <a:ext cx="597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" name="Rectangle 114">
              <a:extLst>
                <a:ext uri="{FF2B5EF4-FFF2-40B4-BE49-F238E27FC236}">
                  <a16:creationId xmlns="" xmlns:a16="http://schemas.microsoft.com/office/drawing/2014/main" id="{676C938B-35F9-B303-B134-78B81ABF6F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9" y="1657"/>
              <a:ext cx="597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50" name="Group 115">
              <a:extLst>
                <a:ext uri="{FF2B5EF4-FFF2-40B4-BE49-F238E27FC236}">
                  <a16:creationId xmlns="" xmlns:a16="http://schemas.microsoft.com/office/drawing/2014/main" id="{3D508C4F-D54D-6362-C746-EA70EC703B8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66" name="AutoShape 116">
                <a:extLst>
                  <a:ext uri="{FF2B5EF4-FFF2-40B4-BE49-F238E27FC236}">
                    <a16:creationId xmlns="" xmlns:a16="http://schemas.microsoft.com/office/drawing/2014/main" id="{851AA747-B01B-E55C-83B4-90E1A0E98F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81"/>
                <a:ext cx="728" cy="126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7" name="AutoShape 117">
                <a:extLst>
                  <a:ext uri="{FF2B5EF4-FFF2-40B4-BE49-F238E27FC236}">
                    <a16:creationId xmlns="" xmlns:a16="http://schemas.microsoft.com/office/drawing/2014/main" id="{A013C63B-1D69-A2FA-4753-AE1B813FDB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6"/>
                <a:ext cx="695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51" name="Freeform 118">
              <a:extLst>
                <a:ext uri="{FF2B5EF4-FFF2-40B4-BE49-F238E27FC236}">
                  <a16:creationId xmlns="" xmlns:a16="http://schemas.microsoft.com/office/drawing/2014/main" id="{BE5A4A39-4008-495F-5281-C64C67A908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7 h 226"/>
                <a:gd name="T4" fmla="*/ 29 w 328"/>
                <a:gd name="T5" fmla="*/ 30 h 226"/>
                <a:gd name="T6" fmla="*/ 0 w 328"/>
                <a:gd name="T7" fmla="*/ 1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52" name="Group 119">
              <a:extLst>
                <a:ext uri="{FF2B5EF4-FFF2-40B4-BE49-F238E27FC236}">
                  <a16:creationId xmlns="" xmlns:a16="http://schemas.microsoft.com/office/drawing/2014/main" id="{1A0E3678-E27E-404E-F612-84AC9D2FBA0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64" name="AutoShape 120">
                <a:extLst>
                  <a:ext uri="{FF2B5EF4-FFF2-40B4-BE49-F238E27FC236}">
                    <a16:creationId xmlns="" xmlns:a16="http://schemas.microsoft.com/office/drawing/2014/main" id="{2511F42A-2AEE-D75D-CA63-ABA54A5FD2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9"/>
                <a:ext cx="728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5" name="AutoShape 121">
                <a:extLst>
                  <a:ext uri="{FF2B5EF4-FFF2-40B4-BE49-F238E27FC236}">
                    <a16:creationId xmlns="" xmlns:a16="http://schemas.microsoft.com/office/drawing/2014/main" id="{81902388-B897-351A-9A0B-39D40ACA9B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6"/>
                <a:ext cx="695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53" name="Rectangle 122">
              <a:extLst>
                <a:ext uri="{FF2B5EF4-FFF2-40B4-BE49-F238E27FC236}">
                  <a16:creationId xmlns="" xmlns:a16="http://schemas.microsoft.com/office/drawing/2014/main" id="{C6E5446B-3A73-144D-9124-4C5FFCC6D4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1" y="429"/>
              <a:ext cx="66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" name="Freeform 123">
              <a:extLst>
                <a:ext uri="{FF2B5EF4-FFF2-40B4-BE49-F238E27FC236}">
                  <a16:creationId xmlns="" xmlns:a16="http://schemas.microsoft.com/office/drawing/2014/main" id="{785C18B5-0130-B4C0-E74A-FE4EF708D01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6 w 296"/>
                <a:gd name="T3" fmla="*/ 18 h 256"/>
                <a:gd name="T4" fmla="*/ 26 w 296"/>
                <a:gd name="T5" fmla="*/ 34 h 256"/>
                <a:gd name="T6" fmla="*/ 0 w 296"/>
                <a:gd name="T7" fmla="*/ 1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124">
              <a:extLst>
                <a:ext uri="{FF2B5EF4-FFF2-40B4-BE49-F238E27FC236}">
                  <a16:creationId xmlns="" xmlns:a16="http://schemas.microsoft.com/office/drawing/2014/main" id="{107C3EDF-CEF3-F9C1-04A9-D75BF9BE0C0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7 w 304"/>
                <a:gd name="T3" fmla="*/ 23 h 288"/>
                <a:gd name="T4" fmla="*/ 25 w 304"/>
                <a:gd name="T5" fmla="*/ 39 h 288"/>
                <a:gd name="T6" fmla="*/ 2 w 304"/>
                <a:gd name="T7" fmla="*/ 17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Oval 125">
              <a:extLst>
                <a:ext uri="{FF2B5EF4-FFF2-40B4-BE49-F238E27FC236}">
                  <a16:creationId xmlns="" xmlns:a16="http://schemas.microsoft.com/office/drawing/2014/main" id="{6B0FF3C6-CF4D-789E-1B6D-DF4D0416DA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1"/>
              <a:ext cx="49" cy="93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" name="Freeform 126">
              <a:extLst>
                <a:ext uri="{FF2B5EF4-FFF2-40B4-BE49-F238E27FC236}">
                  <a16:creationId xmlns="" xmlns:a16="http://schemas.microsoft.com/office/drawing/2014/main" id="{774098CA-FFC6-864F-C51E-4F1F277D5E3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5 h 240"/>
                <a:gd name="T2" fmla="*/ 2 w 306"/>
                <a:gd name="T3" fmla="*/ 33 h 240"/>
                <a:gd name="T4" fmla="*/ 27 w 306"/>
                <a:gd name="T5" fmla="*/ 15 h 240"/>
                <a:gd name="T6" fmla="*/ 26 w 306"/>
                <a:gd name="T7" fmla="*/ 0 h 240"/>
                <a:gd name="T8" fmla="*/ 0 w 306"/>
                <a:gd name="T9" fmla="*/ 15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AutoShape 127">
              <a:extLst>
                <a:ext uri="{FF2B5EF4-FFF2-40B4-BE49-F238E27FC236}">
                  <a16:creationId xmlns="" xmlns:a16="http://schemas.microsoft.com/office/drawing/2014/main" id="{D6C1845E-BC79-4A28-E45E-07F9ECD557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" name="AutoShape 128">
              <a:extLst>
                <a:ext uri="{FF2B5EF4-FFF2-40B4-BE49-F238E27FC236}">
                  <a16:creationId xmlns="" xmlns:a16="http://schemas.microsoft.com/office/drawing/2014/main" id="{A73C2DE6-85BE-B2C3-8E59-694A9C1B45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0"/>
              <a:ext cx="1071" cy="8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0" name="Oval 129">
              <a:extLst>
                <a:ext uri="{FF2B5EF4-FFF2-40B4-BE49-F238E27FC236}">
                  <a16:creationId xmlns="" xmlns:a16="http://schemas.microsoft.com/office/drawing/2014/main" id="{68B374CE-08FF-600F-420A-209E34D6C2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" name="Oval 130">
              <a:extLst>
                <a:ext uri="{FF2B5EF4-FFF2-40B4-BE49-F238E27FC236}">
                  <a16:creationId xmlns="" xmlns:a16="http://schemas.microsoft.com/office/drawing/2014/main" id="{CF8CAD26-16ED-7CD1-62C3-CA1C88301D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5" y="2386"/>
              <a:ext cx="159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sz="1800">
                <a:solidFill>
                  <a:srgbClr val="FF0000"/>
                </a:solidFill>
                <a:cs typeface="Arial" charset="0"/>
              </a:endParaRPr>
            </a:p>
          </p:txBody>
        </p:sp>
        <p:sp>
          <p:nvSpPr>
            <p:cNvPr id="62" name="Oval 131">
              <a:extLst>
                <a:ext uri="{FF2B5EF4-FFF2-40B4-BE49-F238E27FC236}">
                  <a16:creationId xmlns="" xmlns:a16="http://schemas.microsoft.com/office/drawing/2014/main" id="{E577D5ED-4FA2-9667-17E0-122689A931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2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3" name="Rectangle 132">
              <a:extLst>
                <a:ext uri="{FF2B5EF4-FFF2-40B4-BE49-F238E27FC236}">
                  <a16:creationId xmlns="" xmlns:a16="http://schemas.microsoft.com/office/drawing/2014/main" id="{4EE4FBD7-47B0-5352-46A8-CDE4E2ECEF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0" y="1833"/>
              <a:ext cx="89" cy="762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72" name="Group 158">
            <a:extLst>
              <a:ext uri="{FF2B5EF4-FFF2-40B4-BE49-F238E27FC236}">
                <a16:creationId xmlns="" xmlns:a16="http://schemas.microsoft.com/office/drawing/2014/main" id="{BBFB4E9A-2680-9CF2-79BB-CD5EF0F3FF93}"/>
              </a:ext>
            </a:extLst>
          </p:cNvPr>
          <p:cNvGrpSpPr>
            <a:grpSpLocks/>
          </p:cNvGrpSpPr>
          <p:nvPr/>
        </p:nvGrpSpPr>
        <p:grpSpPr bwMode="auto">
          <a:xfrm>
            <a:off x="4345756" y="2651228"/>
            <a:ext cx="1436688" cy="1131888"/>
            <a:chOff x="1796" y="1206"/>
            <a:chExt cx="905" cy="713"/>
          </a:xfrm>
        </p:grpSpPr>
        <p:sp>
          <p:nvSpPr>
            <p:cNvPr id="73" name="Text Box 95">
              <a:extLst>
                <a:ext uri="{FF2B5EF4-FFF2-40B4-BE49-F238E27FC236}">
                  <a16:creationId xmlns="" xmlns:a16="http://schemas.microsoft.com/office/drawing/2014/main" id="{01A70F96-F832-76E4-3414-E649E4D2B9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96" y="1583"/>
              <a:ext cx="905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0"/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0"/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0"/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0"/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600"/>
                <a:t>sender</a:t>
              </a:r>
              <a:r>
                <a:rPr lang="ja-JP" altLang="en-US" sz="1600"/>
                <a:t>’</a:t>
              </a:r>
              <a:r>
                <a:rPr lang="en-US" altLang="ja-JP" sz="1600"/>
                <a:t>s mail </a:t>
              </a:r>
            </a:p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600"/>
                <a:t>server</a:t>
              </a:r>
              <a:endParaRPr lang="en-US" sz="2400"/>
            </a:p>
          </p:txBody>
        </p:sp>
        <p:grpSp>
          <p:nvGrpSpPr>
            <p:cNvPr id="74" name="Group 157">
              <a:extLst>
                <a:ext uri="{FF2B5EF4-FFF2-40B4-BE49-F238E27FC236}">
                  <a16:creationId xmlns="" xmlns:a16="http://schemas.microsoft.com/office/drawing/2014/main" id="{490382CF-D020-7AE4-851B-D2369E2A0D0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92" y="1206"/>
              <a:ext cx="510" cy="354"/>
              <a:chOff x="2070" y="2004"/>
              <a:chExt cx="510" cy="354"/>
            </a:xfrm>
          </p:grpSpPr>
          <p:sp>
            <p:nvSpPr>
              <p:cNvPr id="75" name="Rectangle 94">
                <a:extLst>
                  <a:ext uri="{FF2B5EF4-FFF2-40B4-BE49-F238E27FC236}">
                    <a16:creationId xmlns="" xmlns:a16="http://schemas.microsoft.com/office/drawing/2014/main" id="{C4FD93BA-0060-6439-161A-629ABF0430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70" y="2004"/>
                <a:ext cx="510" cy="354"/>
              </a:xfrm>
              <a:prstGeom prst="rect">
                <a:avLst/>
              </a:prstGeom>
              <a:solidFill>
                <a:schemeClr val="hlink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2400">
                  <a:latin typeface="Comic Sans MS" charset="0"/>
                </a:endParaRPr>
              </a:p>
            </p:txBody>
          </p:sp>
          <p:sp>
            <p:nvSpPr>
              <p:cNvPr id="76" name="Rectangle 96">
                <a:extLst>
                  <a:ext uri="{FF2B5EF4-FFF2-40B4-BE49-F238E27FC236}">
                    <a16:creationId xmlns="" xmlns:a16="http://schemas.microsoft.com/office/drawing/2014/main" id="{5DD15893-9F02-7121-A74A-BB5EFDFE0B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94" y="2076"/>
                <a:ext cx="450" cy="120"/>
              </a:xfrm>
              <a:prstGeom prst="rect">
                <a:avLst/>
              </a:prstGeom>
              <a:solidFill>
                <a:srgbClr val="00FF00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2400">
                  <a:latin typeface="Comic Sans MS" charset="0"/>
                </a:endParaRPr>
              </a:p>
            </p:txBody>
          </p:sp>
          <p:sp>
            <p:nvSpPr>
              <p:cNvPr id="77" name="Line 97">
                <a:extLst>
                  <a:ext uri="{FF2B5EF4-FFF2-40B4-BE49-F238E27FC236}">
                    <a16:creationId xmlns="" xmlns:a16="http://schemas.microsoft.com/office/drawing/2014/main" id="{7979FD74-7F61-46CC-EBBA-89592B5062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43" y="2104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8" name="Line 98">
                <a:extLst>
                  <a:ext uri="{FF2B5EF4-FFF2-40B4-BE49-F238E27FC236}">
                    <a16:creationId xmlns="" xmlns:a16="http://schemas.microsoft.com/office/drawing/2014/main" id="{6EFCB341-B317-9F6A-E2A9-5CDD42625F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52" y="210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9" name="Line 99">
                <a:extLst>
                  <a:ext uri="{FF2B5EF4-FFF2-40B4-BE49-F238E27FC236}">
                    <a16:creationId xmlns="" xmlns:a16="http://schemas.microsoft.com/office/drawing/2014/main" id="{5D2EC294-457B-EF31-1465-64001B5BA9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07" y="2105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0" name="Line 100">
                <a:extLst>
                  <a:ext uri="{FF2B5EF4-FFF2-40B4-BE49-F238E27FC236}">
                    <a16:creationId xmlns="" xmlns:a16="http://schemas.microsoft.com/office/drawing/2014/main" id="{343B2834-01E4-B619-FC60-FB403C3BCB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64" y="210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1" name="Line 101">
                <a:extLst>
                  <a:ext uri="{FF2B5EF4-FFF2-40B4-BE49-F238E27FC236}">
                    <a16:creationId xmlns="" xmlns:a16="http://schemas.microsoft.com/office/drawing/2014/main" id="{B8D77F46-0B80-3A40-8E91-F62D996EFD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25" y="210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" name="Line 102">
                <a:extLst>
                  <a:ext uri="{FF2B5EF4-FFF2-40B4-BE49-F238E27FC236}">
                    <a16:creationId xmlns="" xmlns:a16="http://schemas.microsoft.com/office/drawing/2014/main" id="{DC2B232F-6F19-8ECB-FB94-53587BD335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81" y="210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3" name="Line 103">
                <a:extLst>
                  <a:ext uri="{FF2B5EF4-FFF2-40B4-BE49-F238E27FC236}">
                    <a16:creationId xmlns="" xmlns:a16="http://schemas.microsoft.com/office/drawing/2014/main" id="{B7E8FD37-C579-207B-249B-84CDEF5265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96" y="2104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4" name="Rectangle 104">
                <a:extLst>
                  <a:ext uri="{FF2B5EF4-FFF2-40B4-BE49-F238E27FC236}">
                    <a16:creationId xmlns="" xmlns:a16="http://schemas.microsoft.com/office/drawing/2014/main" id="{36DDEC4B-C4B8-1D2D-2547-386A892234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2" y="224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2400">
                  <a:latin typeface="Comic Sans MS" charset="0"/>
                </a:endParaRPr>
              </a:p>
            </p:txBody>
          </p:sp>
          <p:sp>
            <p:nvSpPr>
              <p:cNvPr id="85" name="Rectangle 105">
                <a:extLst>
                  <a:ext uri="{FF2B5EF4-FFF2-40B4-BE49-F238E27FC236}">
                    <a16:creationId xmlns="" xmlns:a16="http://schemas.microsoft.com/office/drawing/2014/main" id="{1A31C7BB-CCC4-8F2B-F414-D9FD180327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88" y="224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2400">
                  <a:latin typeface="Comic Sans MS" charset="0"/>
                </a:endParaRPr>
              </a:p>
            </p:txBody>
          </p:sp>
          <p:sp>
            <p:nvSpPr>
              <p:cNvPr id="86" name="Rectangle 106">
                <a:extLst>
                  <a:ext uri="{FF2B5EF4-FFF2-40B4-BE49-F238E27FC236}">
                    <a16:creationId xmlns="" xmlns:a16="http://schemas.microsoft.com/office/drawing/2014/main" id="{B4D9097B-D86A-B316-71A1-4B817B2ED5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74" y="2242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2400">
                  <a:latin typeface="Comic Sans MS" charset="0"/>
                </a:endParaRPr>
              </a:p>
            </p:txBody>
          </p:sp>
          <p:sp>
            <p:nvSpPr>
              <p:cNvPr id="87" name="Rectangle 107">
                <a:extLst>
                  <a:ext uri="{FF2B5EF4-FFF2-40B4-BE49-F238E27FC236}">
                    <a16:creationId xmlns="" xmlns:a16="http://schemas.microsoft.com/office/drawing/2014/main" id="{1BA116FC-794A-549A-F1AC-CCD02B26B7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71" y="224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2400">
                  <a:latin typeface="Comic Sans MS" charset="0"/>
                </a:endParaRPr>
              </a:p>
            </p:txBody>
          </p:sp>
          <p:sp>
            <p:nvSpPr>
              <p:cNvPr id="88" name="Rectangle 108">
                <a:extLst>
                  <a:ext uri="{FF2B5EF4-FFF2-40B4-BE49-F238E27FC236}">
                    <a16:creationId xmlns="" xmlns:a16="http://schemas.microsoft.com/office/drawing/2014/main" id="{D3BE6D01-0970-4D48-CE02-CA41068A2E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67" y="224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2400">
                  <a:latin typeface="Comic Sans MS" charset="0"/>
                </a:endParaRPr>
              </a:p>
            </p:txBody>
          </p:sp>
        </p:grpSp>
      </p:grpSp>
      <p:sp>
        <p:nvSpPr>
          <p:cNvPr id="89" name="Text Box 121">
            <a:extLst>
              <a:ext uri="{FF2B5EF4-FFF2-40B4-BE49-F238E27FC236}">
                <a16:creationId xmlns="" xmlns:a16="http://schemas.microsoft.com/office/drawing/2014/main" id="{5CA9EAE3-4DAE-D6CD-8A11-07CC1B7BE6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9469" y="2130528"/>
            <a:ext cx="8905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0"/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0"/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0"/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0"/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>
                <a:solidFill>
                  <a:srgbClr val="CC0000"/>
                </a:solidFill>
              </a:rPr>
              <a:t>SMTP</a:t>
            </a:r>
          </a:p>
        </p:txBody>
      </p:sp>
      <p:sp>
        <p:nvSpPr>
          <p:cNvPr id="90" name="Rectangle 153">
            <a:extLst>
              <a:ext uri="{FF2B5EF4-FFF2-40B4-BE49-F238E27FC236}">
                <a16:creationId xmlns="" xmlns:a16="http://schemas.microsoft.com/office/drawing/2014/main" id="{FE1F6068-E327-4B75-12D7-97B036AFDD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0006" y="2121003"/>
            <a:ext cx="857250" cy="3048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z="2400">
              <a:latin typeface="Comic Sans MS" charset="0"/>
            </a:endParaRPr>
          </a:p>
        </p:txBody>
      </p:sp>
      <p:sp>
        <p:nvSpPr>
          <p:cNvPr id="91" name="Text Box 154">
            <a:extLst>
              <a:ext uri="{FF2B5EF4-FFF2-40B4-BE49-F238E27FC236}">
                <a16:creationId xmlns="" xmlns:a16="http://schemas.microsoft.com/office/drawing/2014/main" id="{2C3A6586-599F-323D-693F-48A54EA775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1256" y="2141641"/>
            <a:ext cx="8905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0"/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0"/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0"/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0"/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>
                <a:solidFill>
                  <a:srgbClr val="CC0000"/>
                </a:solidFill>
              </a:rPr>
              <a:t>SMTP</a:t>
            </a:r>
          </a:p>
        </p:txBody>
      </p:sp>
      <p:sp>
        <p:nvSpPr>
          <p:cNvPr id="92" name="Text Box 156">
            <a:extLst>
              <a:ext uri="{FF2B5EF4-FFF2-40B4-BE49-F238E27FC236}">
                <a16:creationId xmlns="" xmlns:a16="http://schemas.microsoft.com/office/drawing/2014/main" id="{B013AAFA-2EDF-C192-45D0-6F72B426AD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3394" y="1971778"/>
            <a:ext cx="15113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0"/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0"/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0"/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0"/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i="1" dirty="0">
                <a:solidFill>
                  <a:srgbClr val="CC0000"/>
                </a:solidFill>
              </a:rPr>
              <a:t>mail access</a:t>
            </a:r>
          </a:p>
          <a:p>
            <a:pPr algn="ctr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i="1" dirty="0">
                <a:solidFill>
                  <a:srgbClr val="CC0000"/>
                </a:solidFill>
              </a:rPr>
              <a:t>protocol</a:t>
            </a:r>
            <a:endParaRPr lang="en-US" sz="1800" dirty="0">
              <a:solidFill>
                <a:srgbClr val="CC0000"/>
              </a:solidFill>
            </a:endParaRPr>
          </a:p>
        </p:txBody>
      </p:sp>
      <p:sp>
        <p:nvSpPr>
          <p:cNvPr id="93" name="Text Box 160">
            <a:extLst>
              <a:ext uri="{FF2B5EF4-FFF2-40B4-BE49-F238E27FC236}">
                <a16:creationId xmlns="" xmlns:a16="http://schemas.microsoft.com/office/drawing/2014/main" id="{00A2CE2B-0FE1-2DC7-5255-4963B6BB60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20556" y="3262416"/>
            <a:ext cx="1538288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0"/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0"/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0"/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0"/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sz="1600"/>
              <a:t>receiver</a:t>
            </a:r>
            <a:r>
              <a:rPr lang="ja-JP" altLang="en-US" sz="1600"/>
              <a:t>’</a:t>
            </a:r>
            <a:r>
              <a:rPr lang="en-US" altLang="ja-JP" sz="1600"/>
              <a:t>s mail 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sz="1600"/>
              <a:t>server</a:t>
            </a:r>
            <a:endParaRPr lang="en-US" sz="2400"/>
          </a:p>
        </p:txBody>
      </p:sp>
      <p:grpSp>
        <p:nvGrpSpPr>
          <p:cNvPr id="94" name="Group 161">
            <a:extLst>
              <a:ext uri="{FF2B5EF4-FFF2-40B4-BE49-F238E27FC236}">
                <a16:creationId xmlns="" xmlns:a16="http://schemas.microsoft.com/office/drawing/2014/main" id="{5D23C92A-FD90-50F9-627A-5EFC6107F9C8}"/>
              </a:ext>
            </a:extLst>
          </p:cNvPr>
          <p:cNvGrpSpPr>
            <a:grpSpLocks/>
          </p:cNvGrpSpPr>
          <p:nvPr/>
        </p:nvGrpSpPr>
        <p:grpSpPr bwMode="auto">
          <a:xfrm>
            <a:off x="6349181" y="2663928"/>
            <a:ext cx="809625" cy="561975"/>
            <a:chOff x="2070" y="2004"/>
            <a:chExt cx="510" cy="354"/>
          </a:xfrm>
        </p:grpSpPr>
        <p:sp>
          <p:nvSpPr>
            <p:cNvPr id="95" name="Rectangle 162">
              <a:extLst>
                <a:ext uri="{FF2B5EF4-FFF2-40B4-BE49-F238E27FC236}">
                  <a16:creationId xmlns="" xmlns:a16="http://schemas.microsoft.com/office/drawing/2014/main" id="{720581A7-2FCC-72D4-1F5E-FE48F9E47E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0" y="2004"/>
              <a:ext cx="510" cy="354"/>
            </a:xfrm>
            <a:prstGeom prst="rect">
              <a:avLst/>
            </a:prstGeom>
            <a:solidFill>
              <a:schemeClr val="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2400">
                <a:latin typeface="Comic Sans MS" charset="0"/>
              </a:endParaRPr>
            </a:p>
          </p:txBody>
        </p:sp>
        <p:sp>
          <p:nvSpPr>
            <p:cNvPr id="96" name="Rectangle 163">
              <a:extLst>
                <a:ext uri="{FF2B5EF4-FFF2-40B4-BE49-F238E27FC236}">
                  <a16:creationId xmlns="" xmlns:a16="http://schemas.microsoft.com/office/drawing/2014/main" id="{91516881-8A5D-F8AF-F9E9-75498F3D94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94" y="2076"/>
              <a:ext cx="450" cy="120"/>
            </a:xfrm>
            <a:prstGeom prst="rect">
              <a:avLst/>
            </a:prstGeom>
            <a:solidFill>
              <a:srgbClr val="00FF0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2400">
                <a:latin typeface="Comic Sans MS" charset="0"/>
              </a:endParaRPr>
            </a:p>
          </p:txBody>
        </p:sp>
        <p:sp>
          <p:nvSpPr>
            <p:cNvPr id="97" name="Line 164">
              <a:extLst>
                <a:ext uri="{FF2B5EF4-FFF2-40B4-BE49-F238E27FC236}">
                  <a16:creationId xmlns="" xmlns:a16="http://schemas.microsoft.com/office/drawing/2014/main" id="{99A7B258-3ABD-3BCC-5BAC-4A9BA3BB7F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3" y="2104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8" name="Line 165">
              <a:extLst>
                <a:ext uri="{FF2B5EF4-FFF2-40B4-BE49-F238E27FC236}">
                  <a16:creationId xmlns="" xmlns:a16="http://schemas.microsoft.com/office/drawing/2014/main" id="{DFF1054E-1869-21D8-AA9A-A50E6F5931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2" y="210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9" name="Line 166">
              <a:extLst>
                <a:ext uri="{FF2B5EF4-FFF2-40B4-BE49-F238E27FC236}">
                  <a16:creationId xmlns="" xmlns:a16="http://schemas.microsoft.com/office/drawing/2014/main" id="{EE471975-6112-E743-A5A1-16FB1F2464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7" y="2105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0" name="Line 167">
              <a:extLst>
                <a:ext uri="{FF2B5EF4-FFF2-40B4-BE49-F238E27FC236}">
                  <a16:creationId xmlns="" xmlns:a16="http://schemas.microsoft.com/office/drawing/2014/main" id="{D31B9977-447E-16AD-8429-232E332739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64" y="210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1" name="Line 168">
              <a:extLst>
                <a:ext uri="{FF2B5EF4-FFF2-40B4-BE49-F238E27FC236}">
                  <a16:creationId xmlns="" xmlns:a16="http://schemas.microsoft.com/office/drawing/2014/main" id="{D908125E-BAE0-AF6C-50AD-6049095083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25" y="210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" name="Line 169">
              <a:extLst>
                <a:ext uri="{FF2B5EF4-FFF2-40B4-BE49-F238E27FC236}">
                  <a16:creationId xmlns="" xmlns:a16="http://schemas.microsoft.com/office/drawing/2014/main" id="{FABF2CAC-7BE6-7601-BA67-4A0A213729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81" y="210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" name="Line 170">
              <a:extLst>
                <a:ext uri="{FF2B5EF4-FFF2-40B4-BE49-F238E27FC236}">
                  <a16:creationId xmlns="" xmlns:a16="http://schemas.microsoft.com/office/drawing/2014/main" id="{FBA4422D-F1B8-52E4-54CA-4F67C27433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96" y="2104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" name="Rectangle 171">
              <a:extLst>
                <a:ext uri="{FF2B5EF4-FFF2-40B4-BE49-F238E27FC236}">
                  <a16:creationId xmlns="" xmlns:a16="http://schemas.microsoft.com/office/drawing/2014/main" id="{DCEFACE1-F2C7-5243-3DA9-82ED012CC0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2" y="2243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2400">
                <a:latin typeface="Comic Sans MS" charset="0"/>
              </a:endParaRPr>
            </a:p>
          </p:txBody>
        </p:sp>
        <p:sp>
          <p:nvSpPr>
            <p:cNvPr id="105" name="Rectangle 172">
              <a:extLst>
                <a:ext uri="{FF2B5EF4-FFF2-40B4-BE49-F238E27FC236}">
                  <a16:creationId xmlns="" xmlns:a16="http://schemas.microsoft.com/office/drawing/2014/main" id="{19152367-ECE1-597B-51F3-833DFC5303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88" y="2243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2400">
                <a:latin typeface="Comic Sans MS" charset="0"/>
              </a:endParaRPr>
            </a:p>
          </p:txBody>
        </p:sp>
        <p:sp>
          <p:nvSpPr>
            <p:cNvPr id="106" name="Rectangle 173">
              <a:extLst>
                <a:ext uri="{FF2B5EF4-FFF2-40B4-BE49-F238E27FC236}">
                  <a16:creationId xmlns="" xmlns:a16="http://schemas.microsoft.com/office/drawing/2014/main" id="{613CFCA2-D527-F089-449A-1D88C6C1FE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74" y="2242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2400">
                <a:latin typeface="Comic Sans MS" charset="0"/>
              </a:endParaRPr>
            </a:p>
          </p:txBody>
        </p:sp>
        <p:sp>
          <p:nvSpPr>
            <p:cNvPr id="107" name="Rectangle 174">
              <a:extLst>
                <a:ext uri="{FF2B5EF4-FFF2-40B4-BE49-F238E27FC236}">
                  <a16:creationId xmlns="" xmlns:a16="http://schemas.microsoft.com/office/drawing/2014/main" id="{DF9A32F1-0092-87F1-17BF-DF2BCE6C46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1" y="2240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2400">
                <a:latin typeface="Comic Sans MS" charset="0"/>
              </a:endParaRPr>
            </a:p>
          </p:txBody>
        </p:sp>
        <p:sp>
          <p:nvSpPr>
            <p:cNvPr id="108" name="Rectangle 175">
              <a:extLst>
                <a:ext uri="{FF2B5EF4-FFF2-40B4-BE49-F238E27FC236}">
                  <a16:creationId xmlns="" xmlns:a16="http://schemas.microsoft.com/office/drawing/2014/main" id="{4078C5DF-FC3B-A4EF-76A6-319FAC60F2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67" y="2240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2400">
                <a:latin typeface="Comic Sans MS" charset="0"/>
              </a:endParaRPr>
            </a:p>
          </p:txBody>
        </p:sp>
      </p:grpSp>
      <p:pic>
        <p:nvPicPr>
          <p:cNvPr id="109" name="Picture 176" descr="Alice">
            <a:extLst>
              <a:ext uri="{FF2B5EF4-FFF2-40B4-BE49-F238E27FC236}">
                <a16:creationId xmlns="" xmlns:a16="http://schemas.microsoft.com/office/drawing/2014/main" id="{43A2D7C1-07FC-0101-821E-4C11A5D67E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3081" y="2221016"/>
            <a:ext cx="561975" cy="693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0" name="Picture 179" descr="Bob">
            <a:extLst>
              <a:ext uri="{FF2B5EF4-FFF2-40B4-BE49-F238E27FC236}">
                <a16:creationId xmlns="" xmlns:a16="http://schemas.microsoft.com/office/drawing/2014/main" id="{9CF96969-9DCF-454B-6625-5A7ABE1253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62281" y="2235303"/>
            <a:ext cx="676275" cy="690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1" name="Line 94">
            <a:extLst>
              <a:ext uri="{FF2B5EF4-FFF2-40B4-BE49-F238E27FC236}">
                <a16:creationId xmlns="" xmlns:a16="http://schemas.microsoft.com/office/drawing/2014/main" id="{280B898A-0077-F52A-0A4F-11C45397132F}"/>
              </a:ext>
            </a:extLst>
          </p:cNvPr>
          <p:cNvSpPr>
            <a:spLocks noChangeShapeType="1"/>
          </p:cNvSpPr>
          <p:nvPr/>
        </p:nvSpPr>
        <p:spPr bwMode="auto">
          <a:xfrm>
            <a:off x="3552006" y="2568678"/>
            <a:ext cx="903288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" name="Line 95">
            <a:extLst>
              <a:ext uri="{FF2B5EF4-FFF2-40B4-BE49-F238E27FC236}">
                <a16:creationId xmlns="" xmlns:a16="http://schemas.microsoft.com/office/drawing/2014/main" id="{7D0D15D4-39E8-758E-F968-FA1D0A4DF1DE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2369" y="2565503"/>
            <a:ext cx="903287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" name="Line 96">
            <a:extLst>
              <a:ext uri="{FF2B5EF4-FFF2-40B4-BE49-F238E27FC236}">
                <a16:creationId xmlns="" xmlns:a16="http://schemas.microsoft.com/office/drawing/2014/main" id="{60A5EAE9-8B51-5745-8255-39F9683377FA}"/>
              </a:ext>
            </a:extLst>
          </p:cNvPr>
          <p:cNvSpPr>
            <a:spLocks noChangeShapeType="1"/>
          </p:cNvSpPr>
          <p:nvPr/>
        </p:nvSpPr>
        <p:spPr bwMode="auto">
          <a:xfrm>
            <a:off x="6801619" y="2562328"/>
            <a:ext cx="1697037" cy="1588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4" name="Text Box 156">
            <a:extLst>
              <a:ext uri="{FF2B5EF4-FFF2-40B4-BE49-F238E27FC236}">
                <a16:creationId xmlns="" xmlns:a16="http://schemas.microsoft.com/office/drawing/2014/main" id="{1CFAB0FD-68E5-DC10-8945-E592038E16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8819" y="2590903"/>
            <a:ext cx="1311275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0"/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0"/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0"/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0"/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sz="1800" i="1">
                <a:solidFill>
                  <a:srgbClr val="CC0000"/>
                </a:solidFill>
              </a:rPr>
              <a:t>(e.g., </a:t>
            </a:r>
            <a:r>
              <a:rPr lang="en-US" sz="1600" i="1">
                <a:solidFill>
                  <a:srgbClr val="CC0000"/>
                </a:solidFill>
              </a:rPr>
              <a:t>POP, </a:t>
            </a:r>
          </a:p>
          <a:p>
            <a:pPr algn="ctr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sz="1600" i="1">
                <a:solidFill>
                  <a:srgbClr val="CC0000"/>
                </a:solidFill>
              </a:rPr>
              <a:t>         IMAP</a:t>
            </a:r>
            <a:r>
              <a:rPr lang="en-US" sz="1800" i="1">
                <a:solidFill>
                  <a:srgbClr val="CC0000"/>
                </a:solidFill>
              </a:rPr>
              <a:t>)</a:t>
            </a:r>
          </a:p>
        </p:txBody>
      </p:sp>
      <p:grpSp>
        <p:nvGrpSpPr>
          <p:cNvPr id="115" name="Group 166">
            <a:extLst>
              <a:ext uri="{FF2B5EF4-FFF2-40B4-BE49-F238E27FC236}">
                <a16:creationId xmlns="" xmlns:a16="http://schemas.microsoft.com/office/drawing/2014/main" id="{A315A94A-B494-14A7-A60E-C329513B1AFC}"/>
              </a:ext>
            </a:extLst>
          </p:cNvPr>
          <p:cNvGrpSpPr>
            <a:grpSpLocks/>
          </p:cNvGrpSpPr>
          <p:nvPr/>
        </p:nvGrpSpPr>
        <p:grpSpPr bwMode="auto">
          <a:xfrm>
            <a:off x="2615381" y="2082903"/>
            <a:ext cx="912813" cy="1054100"/>
            <a:chOff x="3574" y="550"/>
            <a:chExt cx="575" cy="664"/>
          </a:xfrm>
        </p:grpSpPr>
        <p:grpSp>
          <p:nvGrpSpPr>
            <p:cNvPr id="116" name="Group 167">
              <a:extLst>
                <a:ext uri="{FF2B5EF4-FFF2-40B4-BE49-F238E27FC236}">
                  <a16:creationId xmlns="" xmlns:a16="http://schemas.microsoft.com/office/drawing/2014/main" id="{51D9E01F-A397-EE32-B591-75EA3E2DF3C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88" y="692"/>
              <a:ext cx="561" cy="522"/>
              <a:chOff x="-44" y="1473"/>
              <a:chExt cx="981" cy="1105"/>
            </a:xfrm>
          </p:grpSpPr>
          <p:pic>
            <p:nvPicPr>
              <p:cNvPr id="119" name="Picture 168" descr="desktop_computer_stylized_medium">
                <a:extLst>
                  <a:ext uri="{FF2B5EF4-FFF2-40B4-BE49-F238E27FC236}">
                    <a16:creationId xmlns="" xmlns:a16="http://schemas.microsoft.com/office/drawing/2014/main" id="{09C2ED71-DF0B-D646-2D45-1A56C8BC5BC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20" name="Freeform 169">
                <a:extLst>
                  <a:ext uri="{FF2B5EF4-FFF2-40B4-BE49-F238E27FC236}">
                    <a16:creationId xmlns="" xmlns:a16="http://schemas.microsoft.com/office/drawing/2014/main" id="{2333985F-EFA3-86DF-D09E-B27054151B7F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7497 w 356"/>
                  <a:gd name="T3" fmla="*/ 469 h 368"/>
                  <a:gd name="T4" fmla="*/ 8894 w 356"/>
                  <a:gd name="T5" fmla="*/ 9780 h 368"/>
                  <a:gd name="T6" fmla="*/ 1960 w 356"/>
                  <a:gd name="T7" fmla="*/ 1223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sp>
          <p:nvSpPr>
            <p:cNvPr id="117" name="Rectangle 115">
              <a:extLst>
                <a:ext uri="{FF2B5EF4-FFF2-40B4-BE49-F238E27FC236}">
                  <a16:creationId xmlns="" xmlns:a16="http://schemas.microsoft.com/office/drawing/2014/main" id="{00C26BDF-F858-A212-6E1A-D8F38A416F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1" y="576"/>
              <a:ext cx="381" cy="330"/>
            </a:xfrm>
            <a:prstGeom prst="rect">
              <a:avLst/>
            </a:prstGeom>
            <a:solidFill>
              <a:schemeClr val="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118" name="Text Box 116">
              <a:extLst>
                <a:ext uri="{FF2B5EF4-FFF2-40B4-BE49-F238E27FC236}">
                  <a16:creationId xmlns="" xmlns:a16="http://schemas.microsoft.com/office/drawing/2014/main" id="{88EF9210-EBBB-6C0A-4FA6-5A9A79437A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4" y="550"/>
              <a:ext cx="436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0"/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0"/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0"/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0"/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600" dirty="0"/>
                <a:t>user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600" dirty="0"/>
                <a:t>agent</a:t>
              </a:r>
              <a:endParaRPr lang="en-US" sz="2400" dirty="0"/>
            </a:p>
          </p:txBody>
        </p:sp>
      </p:grpSp>
      <p:grpSp>
        <p:nvGrpSpPr>
          <p:cNvPr id="121" name="Group 172">
            <a:extLst>
              <a:ext uri="{FF2B5EF4-FFF2-40B4-BE49-F238E27FC236}">
                <a16:creationId xmlns="" xmlns:a16="http://schemas.microsoft.com/office/drawing/2014/main" id="{7D91DD20-F553-79AD-C56E-270C1E290C13}"/>
              </a:ext>
            </a:extLst>
          </p:cNvPr>
          <p:cNvGrpSpPr>
            <a:grpSpLocks/>
          </p:cNvGrpSpPr>
          <p:nvPr/>
        </p:nvGrpSpPr>
        <p:grpSpPr bwMode="auto">
          <a:xfrm>
            <a:off x="8516119" y="2086078"/>
            <a:ext cx="912812" cy="1054100"/>
            <a:chOff x="3574" y="550"/>
            <a:chExt cx="575" cy="664"/>
          </a:xfrm>
        </p:grpSpPr>
        <p:grpSp>
          <p:nvGrpSpPr>
            <p:cNvPr id="122" name="Group 173">
              <a:extLst>
                <a:ext uri="{FF2B5EF4-FFF2-40B4-BE49-F238E27FC236}">
                  <a16:creationId xmlns="" xmlns:a16="http://schemas.microsoft.com/office/drawing/2014/main" id="{AA59BC43-9C14-B1F8-A203-E2A2997732D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88" y="692"/>
              <a:ext cx="561" cy="522"/>
              <a:chOff x="-44" y="1473"/>
              <a:chExt cx="981" cy="1105"/>
            </a:xfrm>
          </p:grpSpPr>
          <p:pic>
            <p:nvPicPr>
              <p:cNvPr id="125" name="Picture 174" descr="desktop_computer_stylized_medium">
                <a:extLst>
                  <a:ext uri="{FF2B5EF4-FFF2-40B4-BE49-F238E27FC236}">
                    <a16:creationId xmlns="" xmlns:a16="http://schemas.microsoft.com/office/drawing/2014/main" id="{FE2A88C9-D9B1-97CF-593C-B08D8A6D7E9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26" name="Freeform 175">
                <a:extLst>
                  <a:ext uri="{FF2B5EF4-FFF2-40B4-BE49-F238E27FC236}">
                    <a16:creationId xmlns="" xmlns:a16="http://schemas.microsoft.com/office/drawing/2014/main" id="{46D8380F-8D20-C9B4-18CF-0A7943F7FB3E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7497 w 356"/>
                  <a:gd name="T3" fmla="*/ 469 h 368"/>
                  <a:gd name="T4" fmla="*/ 8894 w 356"/>
                  <a:gd name="T5" fmla="*/ 9780 h 368"/>
                  <a:gd name="T6" fmla="*/ 1960 w 356"/>
                  <a:gd name="T7" fmla="*/ 1223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sp>
          <p:nvSpPr>
            <p:cNvPr id="123" name="Rectangle 115">
              <a:extLst>
                <a:ext uri="{FF2B5EF4-FFF2-40B4-BE49-F238E27FC236}">
                  <a16:creationId xmlns="" xmlns:a16="http://schemas.microsoft.com/office/drawing/2014/main" id="{1928C5A5-A42C-C6C9-4AA6-A8A98AB05E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1" y="576"/>
              <a:ext cx="381" cy="330"/>
            </a:xfrm>
            <a:prstGeom prst="rect">
              <a:avLst/>
            </a:prstGeom>
            <a:solidFill>
              <a:schemeClr val="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124" name="Text Box 116">
              <a:extLst>
                <a:ext uri="{FF2B5EF4-FFF2-40B4-BE49-F238E27FC236}">
                  <a16:creationId xmlns="" xmlns:a16="http://schemas.microsoft.com/office/drawing/2014/main" id="{06EAD5F1-F64D-528F-9BD9-2101814E16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4" y="550"/>
              <a:ext cx="436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0"/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0"/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0"/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0"/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600"/>
                <a:t>user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600"/>
                <a:t>agent</a:t>
              </a:r>
              <a:endParaRPr 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10148960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32BDF9D-175E-E323-4B5B-950CF739C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9362" y="1179873"/>
            <a:ext cx="6752055" cy="589934"/>
          </a:xfrm>
        </p:spPr>
        <p:txBody>
          <a:bodyPr>
            <a:normAutofit/>
          </a:bodyPr>
          <a:lstStyle/>
          <a:p>
            <a:pPr algn="ctr"/>
            <a:r>
              <a:rPr lang="en-US" alt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</a:rPr>
              <a:t>Format </a:t>
            </a:r>
            <a:r>
              <a:rPr lang="en-US" altLang="en-US" sz="28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of an </a:t>
            </a:r>
            <a:r>
              <a:rPr lang="en-US" alt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</a:rPr>
              <a:t>e-mail</a:t>
            </a:r>
            <a:endParaRPr lang="en-IN" sz="2800" dirty="0"/>
          </a:p>
        </p:txBody>
      </p:sp>
      <p:pic>
        <p:nvPicPr>
          <p:cNvPr id="4" name="Picture 6">
            <a:extLst>
              <a:ext uri="{FF2B5EF4-FFF2-40B4-BE49-F238E27FC236}">
                <a16:creationId xmlns="" xmlns:a16="http://schemas.microsoft.com/office/drawing/2014/main" id="{CE05E0F1-3376-7BAE-E4F3-A857047C1A6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970022" y="2591312"/>
            <a:ext cx="4241816" cy="3449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796404E6-353C-6B95-484E-5F0CE8A03458}"/>
              </a:ext>
            </a:extLst>
          </p:cNvPr>
          <p:cNvSpPr txBox="1"/>
          <p:nvPr/>
        </p:nvSpPr>
        <p:spPr>
          <a:xfrm>
            <a:off x="1129137" y="2129647"/>
            <a:ext cx="99235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examples of command-driven user agents are </a:t>
            </a:r>
            <a:r>
              <a:rPr lang="en-US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mail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pine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elm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9399973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A8A0517-A41C-5529-D9BF-ED841D0F3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0334" y="1073048"/>
            <a:ext cx="4023360" cy="549275"/>
          </a:xfrm>
        </p:spPr>
        <p:txBody>
          <a:bodyPr>
            <a:normAutofit/>
          </a:bodyPr>
          <a:lstStyle/>
          <a:p>
            <a:pPr algn="ctr"/>
            <a:r>
              <a:rPr lang="en-US" altLang="en-US" sz="28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E-mail address</a:t>
            </a:r>
            <a:endParaRPr lang="en-IN" sz="2800" b="1" dirty="0">
              <a:solidFill>
                <a:srgbClr val="C00000"/>
              </a:solidFill>
            </a:endParaRPr>
          </a:p>
        </p:txBody>
      </p:sp>
      <p:pic>
        <p:nvPicPr>
          <p:cNvPr id="5" name="Picture 6">
            <a:extLst>
              <a:ext uri="{FF2B5EF4-FFF2-40B4-BE49-F238E27FC236}">
                <a16:creationId xmlns="" xmlns:a16="http://schemas.microsoft.com/office/drawing/2014/main" id="{7563FAF9-D112-75F9-AE0B-F8294A64A50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7987" y="2376590"/>
            <a:ext cx="9528055" cy="29108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48149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2EE1553-F4AB-794F-F5DE-8CB5C4440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2787" y="1202009"/>
            <a:ext cx="5524935" cy="526779"/>
          </a:xfrm>
        </p:spPr>
        <p:txBody>
          <a:bodyPr>
            <a:normAutofit/>
          </a:bodyPr>
          <a:lstStyle/>
          <a:p>
            <a:pPr algn="ctr"/>
            <a:r>
              <a:rPr lang="en-US" altLang="en-US" sz="28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MIME header</a:t>
            </a:r>
            <a:endParaRPr lang="en-IN" sz="2000" b="1" dirty="0">
              <a:solidFill>
                <a:srgbClr val="C00000"/>
              </a:solidFill>
            </a:endParaRPr>
          </a:p>
        </p:txBody>
      </p:sp>
      <p:pic>
        <p:nvPicPr>
          <p:cNvPr id="5" name="Picture 6">
            <a:extLst>
              <a:ext uri="{FF2B5EF4-FFF2-40B4-BE49-F238E27FC236}">
                <a16:creationId xmlns="" xmlns:a16="http://schemas.microsoft.com/office/drawing/2014/main" id="{1BFBCEDD-77EF-EBF2-E0D3-36BBFEEFD89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701846" y="2016125"/>
            <a:ext cx="7102633" cy="3449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889973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88E8217-04C0-35D8-D325-F668897E7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4331" y="1215463"/>
            <a:ext cx="7863386" cy="513325"/>
          </a:xfrm>
        </p:spPr>
        <p:txBody>
          <a:bodyPr>
            <a:normAutofit/>
          </a:bodyPr>
          <a:lstStyle/>
          <a:p>
            <a:pPr algn="ctr"/>
            <a:r>
              <a:rPr lang="en-US" altLang="en-US" sz="28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Data types and subtypes in MIME</a:t>
            </a:r>
            <a:endParaRPr lang="en-IN" sz="2800" b="1" dirty="0">
              <a:solidFill>
                <a:srgbClr val="C00000"/>
              </a:solidFill>
            </a:endParaRPr>
          </a:p>
        </p:txBody>
      </p:sp>
      <p:pic>
        <p:nvPicPr>
          <p:cNvPr id="4" name="Picture 4">
            <a:extLst>
              <a:ext uri="{FF2B5EF4-FFF2-40B4-BE49-F238E27FC236}">
                <a16:creationId xmlns="" xmlns:a16="http://schemas.microsoft.com/office/drawing/2014/main" id="{8F266CFB-1F6C-0E98-0B0A-0F25F1AF3C2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057308" y="2016125"/>
            <a:ext cx="4391708" cy="3449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195541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FA4F2C3-B4AA-8CC8-6A21-85F1161C4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7354" y="1143103"/>
            <a:ext cx="9083040" cy="623016"/>
          </a:xfrm>
        </p:spPr>
        <p:txBody>
          <a:bodyPr>
            <a:normAutofit/>
          </a:bodyPr>
          <a:lstStyle/>
          <a:p>
            <a:pPr algn="ctr"/>
            <a:r>
              <a:rPr lang="en-US" altLang="en-US" sz="28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Content-transfer-encoding</a:t>
            </a:r>
            <a:endParaRPr lang="en-IN" sz="2000" b="1" dirty="0">
              <a:solidFill>
                <a:srgbClr val="C00000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="" xmlns:a16="http://schemas.microsoft.com/office/drawing/2014/main" id="{634BB5CB-5BD0-F215-AB49-799D58E1DC6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50975" y="2041461"/>
            <a:ext cx="9604375" cy="33989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218627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DE013CF-EBCF-B19D-E8D5-22D68BB34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4468" y="1000125"/>
            <a:ext cx="4600362" cy="771525"/>
          </a:xfrm>
        </p:spPr>
        <p:txBody>
          <a:bodyPr>
            <a:normAutofit/>
          </a:bodyPr>
          <a:lstStyle/>
          <a:p>
            <a:pPr algn="ctr"/>
            <a:r>
              <a:rPr lang="en-US" altLang="en-US" sz="28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SMTP range</a:t>
            </a:r>
            <a:endParaRPr lang="en-IN" sz="1800" b="1" dirty="0">
              <a:solidFill>
                <a:srgbClr val="C00000"/>
              </a:solidFill>
            </a:endParaRPr>
          </a:p>
        </p:txBody>
      </p:sp>
      <p:pic>
        <p:nvPicPr>
          <p:cNvPr id="4" name="Picture 6">
            <a:extLst>
              <a:ext uri="{FF2B5EF4-FFF2-40B4-BE49-F238E27FC236}">
                <a16:creationId xmlns="" xmlns:a16="http://schemas.microsoft.com/office/drawing/2014/main" id="{E7832C72-D26A-DB57-58C6-88387562ED4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879973" y="2016125"/>
            <a:ext cx="8746378" cy="3449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763855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F60B4F2-BD5C-DB35-55E7-B4E974CF7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7936" y="1172119"/>
            <a:ext cx="9316896" cy="578772"/>
          </a:xfrm>
        </p:spPr>
        <p:txBody>
          <a:bodyPr>
            <a:noAutofit/>
          </a:bodyPr>
          <a:lstStyle/>
          <a:p>
            <a:pPr algn="ctr"/>
            <a:r>
              <a:rPr lang="en-US" altLang="en-US" sz="28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Commands and responses</a:t>
            </a:r>
            <a:endParaRPr lang="en-IN" sz="2000" b="1" dirty="0">
              <a:solidFill>
                <a:srgbClr val="C00000"/>
              </a:solidFill>
            </a:endParaRPr>
          </a:p>
        </p:txBody>
      </p:sp>
      <p:pic>
        <p:nvPicPr>
          <p:cNvPr id="5" name="Picture 6">
            <a:extLst>
              <a:ext uri="{FF2B5EF4-FFF2-40B4-BE49-F238E27FC236}">
                <a16:creationId xmlns="" xmlns:a16="http://schemas.microsoft.com/office/drawing/2014/main" id="{05C13E05-3808-28E0-1BDA-A85DAB43B73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50975" y="3162132"/>
            <a:ext cx="9604375" cy="11576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685263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83FEBC6-27D5-3D4D-92FE-74D1D1C69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7481" y="1250028"/>
            <a:ext cx="9117037" cy="46078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POP3(</a:t>
            </a:r>
            <a:r>
              <a:rPr lang="en-IN" b="1" i="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Post Office Protocol Version3)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8EE49A44-767A-57A2-4C22-34D7325FBE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73868"/>
            <a:ext cx="10515600" cy="3826857"/>
          </a:xfrm>
        </p:spPr>
        <p:txBody>
          <a:bodyPr>
            <a:normAutofit fontScale="92500" lnSpcReduction="20000"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Current version is 3;POP3</a:t>
            </a:r>
          </a:p>
          <a:p>
            <a:r>
              <a:rPr lang="en-I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User invokes POP3 client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19225" indent="-342900">
              <a:tabLst>
                <a:tab pos="530225" algn="l"/>
              </a:tabLs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Creates TCP connection to POP3 server </a:t>
            </a:r>
          </a:p>
          <a:p>
            <a:pPr marL="1419225" indent="-342900">
              <a:tabLst>
                <a:tab pos="530225" algn="l"/>
              </a:tabLst>
            </a:pPr>
            <a:r>
              <a:rPr lang="en-I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authenticates by login &amp; password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19225" indent="-342900">
              <a:tabLst>
                <a:tab pos="530225" algn="l"/>
              </a:tabLst>
            </a:pPr>
            <a:r>
              <a:rPr lang="en-I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client sends commands to retrieve messages </a:t>
            </a:r>
          </a:p>
          <a:p>
            <a:r>
              <a:rPr lang="en-I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Computer with permanent mailbox must run two servers. </a:t>
            </a:r>
          </a:p>
          <a:p>
            <a:pPr marL="1773238" indent="-342900"/>
            <a:r>
              <a:rPr lang="en-I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SMTP server accepts mail and stores it </a:t>
            </a:r>
          </a:p>
          <a:p>
            <a:pPr marL="1773238" indent="-342900"/>
            <a:r>
              <a:rPr lang="en-I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POP3 server allows user to get </a:t>
            </a:r>
            <a:r>
              <a:rPr lang="en-IN" sz="24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messages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7138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0638F71-5934-3993-2738-9AA2E9688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0059" y="1143544"/>
            <a:ext cx="8364512" cy="564023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POP3(</a:t>
            </a:r>
            <a:r>
              <a:rPr lang="en-IN" sz="2800" b="1" i="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Post Office Protocol Version3)</a:t>
            </a:r>
            <a:endParaRPr lang="en-IN" sz="2800" b="1" dirty="0">
              <a:solidFill>
                <a:srgbClr val="C00000"/>
              </a:solidFill>
            </a:endParaRPr>
          </a:p>
        </p:txBody>
      </p:sp>
      <p:pic>
        <p:nvPicPr>
          <p:cNvPr id="3" name="Picture 7">
            <a:extLst>
              <a:ext uri="{FF2B5EF4-FFF2-40B4-BE49-F238E27FC236}">
                <a16:creationId xmlns="" xmlns:a16="http://schemas.microsoft.com/office/drawing/2014/main" id="{AC628790-8F93-93B9-FAB4-C3210DA87DC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78296" y="2016125"/>
            <a:ext cx="2949733" cy="3449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28329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="" xmlns:a16="http://schemas.microsoft.com/office/drawing/2014/main" id="{01FA19A5-9588-483E-843E-C76873B71790}"/>
              </a:ext>
            </a:extLst>
          </p:cNvPr>
          <p:cNvSpPr/>
          <p:nvPr/>
        </p:nvSpPr>
        <p:spPr>
          <a:xfrm>
            <a:off x="3249859" y="1127628"/>
            <a:ext cx="6414867" cy="56010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SUMMARY</a:t>
            </a:r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404490" y="2468274"/>
            <a:ext cx="11468746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2400" dirty="0"/>
              <a:t>This unit provides a complete overview of application layer of TCP/IP. </a:t>
            </a:r>
          </a:p>
          <a:p>
            <a:pPr marL="342900" indent="-342900" algn="just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2400" dirty="0"/>
              <a:t>Till now we have studied that there are various kinds of application layer related protocols. Some of them have been discussed in this unit, e.g., DNS, E-mail,SMTP,POP3,IMAP, HTTP and FTP. </a:t>
            </a:r>
          </a:p>
        </p:txBody>
      </p:sp>
    </p:spTree>
    <p:extLst>
      <p:ext uri="{BB962C8B-B14F-4D97-AF65-F5344CB8AC3E}">
        <p14:creationId xmlns:p14="http://schemas.microsoft.com/office/powerpoint/2010/main" val="3438468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="" xmlns:a16="http://schemas.microsoft.com/office/drawing/2014/main" id="{ED7FD29D-BBDE-078E-D487-E57247CDB50D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SELF-ASSESSMENT QUESTIONS</a:t>
            </a:r>
          </a:p>
        </p:txBody>
      </p:sp>
      <p:sp>
        <p:nvSpPr>
          <p:cNvPr id="7" name="Google Shape;502;p17">
            <a:extLst>
              <a:ext uri="{FF2B5EF4-FFF2-40B4-BE49-F238E27FC236}">
                <a16:creationId xmlns="" xmlns:a16="http://schemas.microsoft.com/office/drawing/2014/main" id="{AE3D0AA7-0A5F-7BD6-7BC7-1D38F326B8B4}"/>
              </a:ext>
            </a:extLst>
          </p:cNvPr>
          <p:cNvSpPr/>
          <p:nvPr/>
        </p:nvSpPr>
        <p:spPr>
          <a:xfrm>
            <a:off x="963400" y="709965"/>
            <a:ext cx="10172210" cy="722805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1.Gmail.com, yahoo.com, yahoo.co.in, ymail.com, rediff.com, rediffmail.com, fastmail.fm, etc. are popular_________________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ounded Rectangle 17">
            <a:extLst>
              <a:ext uri="{FF2B5EF4-FFF2-40B4-BE49-F238E27FC236}">
                <a16:creationId xmlns="" xmlns:a16="http://schemas.microsoft.com/office/drawing/2014/main" id="{5D8B791C-9B35-CF16-C192-D202E0DB9A60}"/>
              </a:ext>
            </a:extLst>
          </p:cNvPr>
          <p:cNvSpPr/>
          <p:nvPr/>
        </p:nvSpPr>
        <p:spPr>
          <a:xfrm>
            <a:off x="1110372" y="1542660"/>
            <a:ext cx="9976728" cy="857640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 smtClean="0"/>
              <a:t>a. email servers							c. social </a:t>
            </a:r>
            <a:r>
              <a:rPr lang="fr-FR" dirty="0"/>
              <a:t>media sites</a:t>
            </a:r>
          </a:p>
          <a:p>
            <a:r>
              <a:rPr lang="fr-FR" dirty="0" smtClean="0"/>
              <a:t>b. FTP servers							d. None</a:t>
            </a:r>
            <a:endParaRPr lang="fr-FR" dirty="0"/>
          </a:p>
          <a:p>
            <a:pPr fontAlgn="base"/>
            <a:endParaRPr lang="en-US" sz="1600" dirty="0"/>
          </a:p>
        </p:txBody>
      </p:sp>
      <p:sp>
        <p:nvSpPr>
          <p:cNvPr id="13" name="Google Shape;502;p17">
            <a:extLst>
              <a:ext uri="{FF2B5EF4-FFF2-40B4-BE49-F238E27FC236}">
                <a16:creationId xmlns="" xmlns:a16="http://schemas.microsoft.com/office/drawing/2014/main" id="{BB41B87C-BE5F-4BF2-531D-57DC21D1A451}"/>
              </a:ext>
            </a:extLst>
          </p:cNvPr>
          <p:cNvSpPr/>
          <p:nvPr/>
        </p:nvSpPr>
        <p:spPr>
          <a:xfrm>
            <a:off x="995362" y="2772462"/>
            <a:ext cx="10172210" cy="511277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IN" b="1" dirty="0"/>
              <a:t>2.SMTP stands for__________________</a:t>
            </a:r>
            <a:endParaRPr lang="en-IN" dirty="0"/>
          </a:p>
        </p:txBody>
      </p:sp>
      <p:sp>
        <p:nvSpPr>
          <p:cNvPr id="14" name="Rounded Rectangle 17">
            <a:extLst>
              <a:ext uri="{FF2B5EF4-FFF2-40B4-BE49-F238E27FC236}">
                <a16:creationId xmlns="" xmlns:a16="http://schemas.microsoft.com/office/drawing/2014/main" id="{7E00138C-2256-5D01-E821-A57ADA3BBCB0}"/>
              </a:ext>
            </a:extLst>
          </p:cNvPr>
          <p:cNvSpPr/>
          <p:nvPr/>
        </p:nvSpPr>
        <p:spPr>
          <a:xfrm>
            <a:off x="996072" y="5073148"/>
            <a:ext cx="10019591" cy="913315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en-US" dirty="0" smtClean="0"/>
              <a:t>a. application layer							b. transport </a:t>
            </a:r>
            <a:r>
              <a:rPr lang="en-US" dirty="0"/>
              <a:t>layer</a:t>
            </a:r>
            <a:br>
              <a:rPr lang="en-US" dirty="0"/>
            </a:br>
            <a:r>
              <a:rPr lang="en-US" dirty="0" smtClean="0"/>
              <a:t>c, network layer</a:t>
            </a:r>
            <a:r>
              <a:rPr lang="en-US" dirty="0"/>
              <a:t>	</a:t>
            </a:r>
            <a:r>
              <a:rPr lang="en-US" dirty="0" smtClean="0"/>
              <a:t>						d. data </a:t>
            </a:r>
            <a:r>
              <a:rPr lang="en-US" dirty="0"/>
              <a:t>link layer</a:t>
            </a:r>
          </a:p>
        </p:txBody>
      </p:sp>
      <p:pic>
        <p:nvPicPr>
          <p:cNvPr id="8" name="Picture 2" descr="KL Deemed to be University Logo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9" name="Google Shape;502;p17">
            <a:extLst>
              <a:ext uri="{FF2B5EF4-FFF2-40B4-BE49-F238E27FC236}">
                <a16:creationId xmlns="" xmlns:a16="http://schemas.microsoft.com/office/drawing/2014/main" id="{BB41B87C-BE5F-4BF2-531D-57DC21D1A451}"/>
              </a:ext>
            </a:extLst>
          </p:cNvPr>
          <p:cNvSpPr/>
          <p:nvPr/>
        </p:nvSpPr>
        <p:spPr>
          <a:xfrm>
            <a:off x="963400" y="4480556"/>
            <a:ext cx="10172210" cy="511277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3.Post office protocol works on __________</a:t>
            </a:r>
            <a:endParaRPr sz="2400" dirty="0">
              <a:solidFill>
                <a:schemeClr val="bg1"/>
              </a:solidFill>
              <a:latin typeface="Calibri" pitchFamily="34" charset="0"/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10" name="Rounded Rectangle 17">
            <a:extLst>
              <a:ext uri="{FF2B5EF4-FFF2-40B4-BE49-F238E27FC236}">
                <a16:creationId xmlns="" xmlns:a16="http://schemas.microsoft.com/office/drawing/2014/main" id="{7E00138C-2256-5D01-E821-A57ADA3BBCB0}"/>
              </a:ext>
            </a:extLst>
          </p:cNvPr>
          <p:cNvSpPr/>
          <p:nvPr/>
        </p:nvSpPr>
        <p:spPr>
          <a:xfrm>
            <a:off x="1110372" y="3393629"/>
            <a:ext cx="10005303" cy="921196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 smtClean="0"/>
              <a:t>a. Simple </a:t>
            </a:r>
            <a:r>
              <a:rPr lang="en-IN" dirty="0"/>
              <a:t>Main Transfer </a:t>
            </a:r>
            <a:r>
              <a:rPr lang="en-IN" dirty="0" smtClean="0"/>
              <a:t>Protocol				b. Server </a:t>
            </a:r>
            <a:r>
              <a:rPr lang="en-IN" dirty="0"/>
              <a:t>Mail Transfer Protocol</a:t>
            </a:r>
          </a:p>
          <a:p>
            <a:r>
              <a:rPr lang="en-IN" dirty="0" smtClean="0"/>
              <a:t>b. Short </a:t>
            </a:r>
            <a:r>
              <a:rPr lang="en-IN" dirty="0"/>
              <a:t>mail transmission </a:t>
            </a:r>
            <a:r>
              <a:rPr lang="en-IN" dirty="0" smtClean="0"/>
              <a:t>protocol				d. Small </a:t>
            </a:r>
            <a:r>
              <a:rPr lang="en-IN" dirty="0"/>
              <a:t>mail transmission protocol</a:t>
            </a:r>
          </a:p>
        </p:txBody>
      </p:sp>
    </p:spTree>
    <p:extLst>
      <p:ext uri="{BB962C8B-B14F-4D97-AF65-F5344CB8AC3E}">
        <p14:creationId xmlns:p14="http://schemas.microsoft.com/office/powerpoint/2010/main" val="4086670057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11" grpId="0" animBg="1"/>
      <p:bldP spid="13" grpId="0" animBg="1"/>
      <p:bldP spid="14" grpId="0" animBg="1"/>
      <p:bldP spid="9" grpId="0" animBg="1"/>
      <p:bldP spid="10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="" xmlns:a16="http://schemas.microsoft.com/office/drawing/2014/main" id="{045E056E-10BD-0B9E-4ACE-A3F54C31FD9F}"/>
              </a:ext>
            </a:extLst>
          </p:cNvPr>
          <p:cNvSpPr/>
          <p:nvPr/>
        </p:nvSpPr>
        <p:spPr>
          <a:xfrm>
            <a:off x="3331642" y="1061489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TERMINAL 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5362" y="2347489"/>
            <a:ext cx="9608234" cy="22419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1.Write a note on email.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Explain about e-mail architecture and service.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3.What is (POP3) 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rotocols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b="1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4.Write the difference between IMAP and POP3. Why they are uses?</a:t>
            </a:r>
          </a:p>
        </p:txBody>
      </p:sp>
      <p:pic>
        <p:nvPicPr>
          <p:cNvPr id="10" name="Picture 2" descr="KL Deemed to be University Logo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50043508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="" xmlns:a16="http://schemas.microsoft.com/office/drawing/2014/main" id="{045E056E-10BD-0B9E-4ACE-A3F54C31FD9F}"/>
              </a:ext>
            </a:extLst>
          </p:cNvPr>
          <p:cNvSpPr/>
          <p:nvPr/>
        </p:nvSpPr>
        <p:spPr>
          <a:xfrm>
            <a:off x="2220302" y="1171772"/>
            <a:ext cx="8133065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REFERENCES FOR FURTHER LEARNING OF THE SESSION</a:t>
            </a:r>
            <a:endParaRPr lang="en-US" sz="24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95362" y="2155760"/>
            <a:ext cx="960823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Reference Books:</a:t>
            </a:r>
            <a:endParaRPr lang="en-US" dirty="0"/>
          </a:p>
          <a:p>
            <a:pPr marL="342900" indent="-342900" algn="just">
              <a:buFont typeface="+mj-lt"/>
              <a:buAutoNum type="arabicPeriod"/>
            </a:pPr>
            <a:r>
              <a:rPr lang="en-US" sz="18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Data and Computer Communications (5th Ed.)” – W. Stallings –   PHI/ Pearson Education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8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Network for Computer Scientists &amp; Engineers, Zheng &amp; Akhtar,  OUP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8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Data &amp; Computer Communication, Black, PHI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b="1" dirty="0"/>
              <a:t>Sites and Web links: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IN" dirty="0"/>
              <a:t>http://nptel.ac.in/courses/106105081/31 </a:t>
            </a:r>
          </a:p>
          <a:p>
            <a:pPr>
              <a:lnSpc>
                <a:spcPct val="150000"/>
              </a:lnSpc>
            </a:pPr>
            <a:r>
              <a:rPr lang="en-IN" u="sng" dirty="0">
                <a:hlinkClick r:id="rId2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2.    http://nptel.ac.in/courses/106105081/28</a:t>
            </a:r>
            <a:endParaRPr lang="en-IN" u="sng" dirty="0"/>
          </a:p>
          <a:p>
            <a:pPr>
              <a:lnSpc>
                <a:spcPct val="150000"/>
              </a:lnSpc>
            </a:pPr>
            <a:r>
              <a:rPr lang="en-IN" dirty="0"/>
              <a:t> 3.   http://nptel.ac.in/courses/106105081/39 </a:t>
            </a:r>
            <a:endParaRPr lang="en-US" dirty="0"/>
          </a:p>
          <a:p>
            <a:pPr>
              <a:lnSpc>
                <a:spcPct val="150000"/>
              </a:lnSpc>
            </a:pPr>
            <a:endParaRPr lang="en-US" dirty="0"/>
          </a:p>
        </p:txBody>
      </p:sp>
      <p:pic>
        <p:nvPicPr>
          <p:cNvPr id="5" name="Picture 2" descr="KL Deemed to be University Logo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9278352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="" xmlns:a16="http://schemas.microsoft.com/office/drawing/2014/main" id="{E792BE84-3448-2348-B352-CD5BC083E5FD}"/>
              </a:ext>
            </a:extLst>
          </p:cNvPr>
          <p:cNvSpPr/>
          <p:nvPr/>
        </p:nvSpPr>
        <p:spPr>
          <a:xfrm>
            <a:off x="1423851" y="1097278"/>
            <a:ext cx="9692640" cy="4572002"/>
          </a:xfrm>
          <a:prstGeom prst="roundRect">
            <a:avLst/>
          </a:prstGeom>
          <a:solidFill>
            <a:srgbClr val="FFC000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b="1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 pitchFamily="2" charset="77"/>
                <a:cs typeface="Poppins" pitchFamily="2" charset="77"/>
              </a:rPr>
              <a:t>THANK YOU</a:t>
            </a: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marR="0" lv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latin typeface="Poppins" pitchFamily="2" charset="77"/>
                <a:cs typeface="Poppins" pitchFamily="2" charset="77"/>
              </a:rPr>
              <a:t>Team – </a:t>
            </a:r>
            <a:r>
              <a:rPr lang="en-US" sz="2400" b="1" cap="all" dirty="0" smtClean="0">
                <a:ln/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Poppins" panose="00000500000000000000" pitchFamily="2" charset="0"/>
              </a:rPr>
              <a:t> COMPUTER NETWORKS</a:t>
            </a: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6" name="Picture 2" descr="KL Deemed to be University Logo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98386" y="2642857"/>
            <a:ext cx="3235570" cy="108321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544889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Presentation1" id="{24598BE9-BD78-4C1A-902E-0BA786164A9D}" vid="{1551CBD6-114D-4A17-981D-82FBB9D5494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S25_Congestion_control_Open_Loop_and_closed_loop_Choke_Packets_PPT</Template>
  <TotalTime>4045</TotalTime>
  <Words>908</Words>
  <Application>Microsoft Office PowerPoint</Application>
  <PresentationFormat>Custom</PresentationFormat>
  <Paragraphs>185</Paragraphs>
  <Slides>29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0" baseType="lpstr">
      <vt:lpstr>Gallery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Electronic mail: mail servers</vt:lpstr>
      <vt:lpstr>Electronic Mail: SMTP [RFC 2821]</vt:lpstr>
      <vt:lpstr>First scenario in electronic mail</vt:lpstr>
      <vt:lpstr>Second scenario in electronic mail</vt:lpstr>
      <vt:lpstr>Third scenario in electronic mail</vt:lpstr>
      <vt:lpstr>Fourth scenario in electronic mail</vt:lpstr>
      <vt:lpstr>Push versus pull in electronic email</vt:lpstr>
      <vt:lpstr>Services of user agent</vt:lpstr>
      <vt:lpstr>Mail message format</vt:lpstr>
      <vt:lpstr>Mail access protocols</vt:lpstr>
      <vt:lpstr>Format of an e-mail</vt:lpstr>
      <vt:lpstr>E-mail address</vt:lpstr>
      <vt:lpstr>MIME header</vt:lpstr>
      <vt:lpstr>Data types and subtypes in MIME</vt:lpstr>
      <vt:lpstr>Content-transfer-encoding</vt:lpstr>
      <vt:lpstr>SMTP range</vt:lpstr>
      <vt:lpstr>Commands and responses</vt:lpstr>
      <vt:lpstr>POP3(Post Office Protocol Version3)</vt:lpstr>
      <vt:lpstr>POP3(Post Office Protocol Version3)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Analog &amp; digital communications</dc:title>
  <dc:creator>syamsundar</dc:creator>
  <cp:lastModifiedBy>SADHANA</cp:lastModifiedBy>
  <cp:revision>186</cp:revision>
  <dcterms:created xsi:type="dcterms:W3CDTF">2022-11-09T14:23:54Z</dcterms:created>
  <dcterms:modified xsi:type="dcterms:W3CDTF">2026-02-21T11:05:41Z</dcterms:modified>
</cp:coreProperties>
</file>